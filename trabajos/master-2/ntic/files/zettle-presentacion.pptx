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110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3A"/>
          </a:solidFill>
          <a:ln w="12700">
            <a:solidFill>
              <a:srgbClr val="0F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Zettle — Partes 4 y 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8EE"/>
                </a:solidFill>
              </a:rPr>
              <a:t>Valor pre-financiación y escenario de una ronda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EAF8F5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7" name="Text 5"/>
          <p:cNvSpPr/>
          <p:nvPr/>
        </p:nvSpPr>
        <p:spPr>
          <a:xfrm>
            <a:off x="850392" y="2478024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P4 · Valor pre-money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2770632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D8F"/>
                </a:solidFill>
              </a:rPr>
              <a:t>429,25 M$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520440" y="233172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FFF0DF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0" name="Text 8"/>
          <p:cNvSpPr/>
          <p:nvPr/>
        </p:nvSpPr>
        <p:spPr>
          <a:xfrm>
            <a:off x="3685032" y="2478024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Inversión necesaria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5032" y="2770632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</a:rPr>
              <a:t>321,41 M$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355080" y="2331720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DEAE5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3" name="Text 11"/>
          <p:cNvSpPr/>
          <p:nvPr/>
        </p:nvSpPr>
        <p:spPr>
          <a:xfrm>
            <a:off x="6519672" y="2478024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P5 · Propiedad VC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9672" y="2770632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6F51"/>
                </a:solidFill>
              </a:rPr>
              <a:t>42,82%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006840" y="2331720"/>
            <a:ext cx="2514600" cy="1170432"/>
          </a:xfrm>
          <a:prstGeom prst="roundRect">
            <a:avLst>
              <a:gd name="adj" fmla="val 9375"/>
            </a:avLst>
          </a:prstGeom>
          <a:solidFill>
            <a:srgbClr val="E8F1F6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6" name="Text 14"/>
          <p:cNvSpPr/>
          <p:nvPr/>
        </p:nvSpPr>
        <p:spPr>
          <a:xfrm>
            <a:off x="9171432" y="2478024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Nuevas acciones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71432" y="2770632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3A"/>
                </a:solidFill>
              </a:rPr>
              <a:t>748.774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85800" y="3977640"/>
            <a:ext cx="10835640" cy="1234440"/>
          </a:xfrm>
          <a:prstGeom prst="roundRect">
            <a:avLst>
              <a:gd name="adj" fmla="val 8889"/>
            </a:avLst>
          </a:prstGeom>
          <a:solidFill>
            <a:srgbClr val="123B4A"/>
          </a:solidFill>
          <a:ln w="12700">
            <a:solidFill>
              <a:srgbClr val="2B596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32688" y="4159213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Idea central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455371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Con una IRR exigida del 40%, el valor post-money actual es 750,66 M$; al descontar la financiación necesaria de 321,41 M$, el valor pre-money queda en 429,25 M$.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CBD2"/>
                </a:solidFill>
              </a:rPr>
              <a:t>Fuente: Caso Zettle.xlsx; cálculos propios.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— Cálculo del valor pre-financiación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670"/>
                </a:solidFill>
              </a:rPr>
              <a:t>Aplicación directa del Venture Capital Method con IRR = 40%.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00684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670"/>
                </a:solidFill>
              </a:rPr>
              <a:t>Zettle · Venture Capital 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758952" y="1467612"/>
            <a:ext cx="859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Valor terminal (Vt)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222199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3A"/>
                </a:solidFill>
              </a:rPr>
              <a:t>2.883,74 M$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46120" y="1783080"/>
            <a:ext cx="2057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3" name="Text 11"/>
          <p:cNvSpPr/>
          <p:nvPr/>
        </p:nvSpPr>
        <p:spPr>
          <a:xfrm>
            <a:off x="3410712" y="192938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IRR requerida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2221992"/>
            <a:ext cx="1728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3A"/>
                </a:solidFill>
              </a:rPr>
              <a:t>40%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532120" y="178308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6" name="Text 14"/>
          <p:cNvSpPr/>
          <p:nvPr/>
        </p:nvSpPr>
        <p:spPr>
          <a:xfrm>
            <a:off x="5696712" y="1929384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Tiempo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96712" y="22219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3A"/>
                </a:solidFill>
              </a:rPr>
              <a:t>4 años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726680" y="178308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9" name="Text 17"/>
          <p:cNvSpPr/>
          <p:nvPr/>
        </p:nvSpPr>
        <p:spPr>
          <a:xfrm>
            <a:off x="7891272" y="192938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Inversión (I)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91272" y="22219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3A"/>
                </a:solidFill>
              </a:rPr>
              <a:t>321,41 M$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2" name="Text 20"/>
          <p:cNvSpPr/>
          <p:nvPr/>
        </p:nvSpPr>
        <p:spPr>
          <a:xfrm>
            <a:off x="758952" y="3204972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FÓRMULAS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566160"/>
            <a:ext cx="33832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4" name="Text 22"/>
          <p:cNvSpPr/>
          <p:nvPr/>
        </p:nvSpPr>
        <p:spPr>
          <a:xfrm>
            <a:off x="822960" y="367588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D3A"/>
                </a:solidFill>
              </a:rPr>
              <a:t>Vpost = Vt / (1 + IRR)^t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3400" y="3566160"/>
            <a:ext cx="2743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16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6" name="Text 24"/>
          <p:cNvSpPr/>
          <p:nvPr/>
        </p:nvSpPr>
        <p:spPr>
          <a:xfrm>
            <a:off x="4480560" y="367588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D3A"/>
                </a:solidFill>
              </a:rPr>
              <a:t>Vpre = Vpost − 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4572000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8" name="Text 26"/>
          <p:cNvSpPr/>
          <p:nvPr/>
        </p:nvSpPr>
        <p:spPr>
          <a:xfrm>
            <a:off x="758952" y="4622292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RESULTADO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919472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E8F1F6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0" name="Text 28"/>
          <p:cNvSpPr/>
          <p:nvPr/>
        </p:nvSpPr>
        <p:spPr>
          <a:xfrm>
            <a:off x="850392" y="5065776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Valor post-money actual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" y="53583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3A"/>
                </a:solidFill>
              </a:rPr>
              <a:t>750,66 M$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4617720" y="4919472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EAF8F5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3" name="Text 31"/>
          <p:cNvSpPr/>
          <p:nvPr/>
        </p:nvSpPr>
        <p:spPr>
          <a:xfrm>
            <a:off x="4782312" y="5065776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Valor pre-money actual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82312" y="53583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D8F"/>
                </a:solidFill>
              </a:rPr>
              <a:t>429,25 M$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8613648" y="5074920"/>
            <a:ext cx="411480" cy="50292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6" name="Text 34"/>
          <p:cNvSpPr/>
          <p:nvPr/>
        </p:nvSpPr>
        <p:spPr>
          <a:xfrm>
            <a:off x="9098280" y="50474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670"/>
                </a:solidFill>
              </a:rPr>
              <a:t>Valor usado en la parte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670"/>
                </a:solidFill>
              </a:rPr>
              <a:t>como precio implícito por acción.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8" name="Text 36"/>
          <p:cNvSpPr/>
          <p:nvPr/>
        </p:nvSpPr>
        <p:spPr>
          <a:xfrm>
            <a:off x="502920" y="651967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670"/>
                </a:solidFill>
              </a:rPr>
              <a:t>Fuente: Caso Zettle.xlsx; cálculos propios.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— ¿Es alto o bajo el Vpre?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916641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670"/>
                </a:solidFill>
              </a:rPr>
              <a:t>El valor calculado es conservador frente a referencias de mercado y a la compra por PayPal.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00684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670"/>
                </a:solidFill>
              </a:rPr>
              <a:t>Zettle · Venture Capital 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7242"/>
            <a:ext cx="11201400" cy="0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549465"/>
              </p:ext>
            </p:extLst>
          </p:nvPr>
        </p:nvGraphicFramePr>
        <p:xfrm>
          <a:off x="685800" y="1778509"/>
          <a:ext cx="6583680" cy="2011680"/>
        </p:xfrm>
        <a:graphic>
          <a:graphicData uri="http://schemas.openxmlformats.org/drawingml/2006/table">
            <a:tbl>
              <a:tblPr/>
              <a:tblGrid>
                <a:gridCol w="208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2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Vpre calculado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429,25 M$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Valoración VC descontada por riesgo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 prevista iZettle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1.100 M$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de mercado previa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PayPal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2.200 M$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estratégico pagado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1778509"/>
            <a:ext cx="6583680" cy="502920"/>
          </a:xfrm>
          <a:prstGeom prst="rect">
            <a:avLst/>
          </a:prstGeom>
          <a:solidFill>
            <a:srgbClr val="0F2D3A"/>
          </a:solidFill>
          <a:ln w="12700">
            <a:solidFill>
              <a:srgbClr val="0F2D3A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9" name="Text 6"/>
          <p:cNvSpPr/>
          <p:nvPr/>
        </p:nvSpPr>
        <p:spPr>
          <a:xfrm>
            <a:off x="822960" y="1933957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Referencia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063240" y="1933957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Valor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98848" y="1933957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Lectura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635240" y="141732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 dirty="0"/>
          </a:p>
        </p:txBody>
      </p:sp>
      <p:sp>
        <p:nvSpPr>
          <p:cNvPr id="13" name="Text 10"/>
          <p:cNvSpPr/>
          <p:nvPr/>
        </p:nvSpPr>
        <p:spPr>
          <a:xfrm>
            <a:off x="7882128" y="17007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D3A"/>
                </a:solidFill>
              </a:rPr>
              <a:t>Conclusión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882128" y="2514599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</a:rPr>
              <a:t>429,25 M$ es bajo </a:t>
            </a:r>
            <a:r>
              <a:rPr lang="en-US" sz="1600" dirty="0">
                <a:solidFill>
                  <a:srgbClr val="111827"/>
                </a:solidFill>
              </a:rPr>
              <a:t>frente a 1.100 M$ de IPO prevista y 2.200 M$ de PayPal.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882128" y="38270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670"/>
                </a:solidFill>
              </a:rPr>
              <a:t>La diferencia se explica por: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82128" y="4151376"/>
            <a:ext cx="3383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IRR exigida del 40%.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Riesgo alto de startup.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Descuento por necesidad de caja.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PayPal paga sinergias estratégicas.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715651" y="4367993"/>
            <a:ext cx="4380349" cy="1188249"/>
          </a:xfrm>
          <a:prstGeom prst="roundRect">
            <a:avLst>
              <a:gd name="adj" fmla="val 10667"/>
            </a:avLst>
          </a:prstGeom>
          <a:solidFill>
            <a:srgbClr val="FFF0DF"/>
          </a:solidFill>
          <a:ln w="762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18" name="Text 15"/>
          <p:cNvSpPr/>
          <p:nvPr/>
        </p:nvSpPr>
        <p:spPr>
          <a:xfrm>
            <a:off x="2012809" y="4706022"/>
            <a:ext cx="3900311" cy="50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D3A"/>
                </a:solidFill>
              </a:rPr>
              <a:t>IRR 40% = valoración exigente, pero defendible para venture capital.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502920" y="651967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670"/>
                </a:solidFill>
              </a:rPr>
              <a:t>Fuente: Caso Zettle.xlsx; referencias de IPO prevista y adquisición PayPal del caso.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— Escenario de una ronda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793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670"/>
                </a:solidFill>
              </a:rPr>
              <a:t>Cálculo de dilución, nuevas acciones y precio por acción.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00684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670"/>
                </a:solidFill>
              </a:rPr>
              <a:t>Zettle · Venture Capital 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53266"/>
            <a:ext cx="11201400" cy="0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240280" cy="256032"/>
          </a:xfrm>
          <a:prstGeom prst="roundRect">
            <a:avLst>
              <a:gd name="adj" fmla="val 285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58952" y="1467612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CAPITALIZACIÓN POST-RONDA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724029"/>
              </p:ext>
            </p:extLst>
          </p:nvPr>
        </p:nvGraphicFramePr>
        <p:xfrm>
          <a:off x="685800" y="1828800"/>
          <a:ext cx="5257800" cy="20116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Accionista</a:t>
                      </a:r>
                      <a:endParaRPr lang="en-US" sz="13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Acciones</a:t>
                      </a:r>
                      <a:endParaRPr lang="en-US" sz="13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% propiedad</a:t>
                      </a:r>
                      <a:endParaRPr lang="en-US" sz="13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Emprendedores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1.000.000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57,18%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VC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748.774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42,82%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Total post-money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1.748.774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</a:rPr>
                        <a:t>100,00%</a:t>
                      </a:r>
                      <a:endParaRPr lang="en-US" sz="1600" dirty="0"/>
                    </a:p>
                  </a:txBody>
                  <a:tcPr marL="82296" marR="82296" marT="82296" marB="82296">
                    <a:lnL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1828800"/>
            <a:ext cx="5669280" cy="502920"/>
          </a:xfrm>
          <a:prstGeom prst="rect">
            <a:avLst/>
          </a:prstGeom>
          <a:solidFill>
            <a:srgbClr val="0F2D3A"/>
          </a:solidFill>
          <a:ln w="12700">
            <a:solidFill>
              <a:srgbClr val="0F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41248" y="1984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Accionista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52928" y="19842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Acciones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53712" y="19842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% propiedad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131430" y="4952129"/>
            <a:ext cx="4160520" cy="566928"/>
          </a:xfrm>
          <a:prstGeom prst="roundRect">
            <a:avLst>
              <a:gd name="adj" fmla="val 16129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1131430" y="4952129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3508870" y="4952129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1222870" y="5125865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57,18% Emprendedores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64318" y="512586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42,82% VC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995160" y="3593592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7068312" y="3643884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CÁLCULOS CLAVE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95160" y="3959352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DEAE5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159752" y="410565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F = I / Vpost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59752" y="4398264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</a:rPr>
              <a:t>42,82%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9006840" y="3959352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9171432" y="410565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Nuevas acciones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71432" y="4398264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D3A"/>
                </a:solidFill>
              </a:rPr>
              <a:t>748.774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6995160" y="5148072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EAF8F5"/>
          </a:solidFill>
          <a:ln w="762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7159752" y="5294376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670"/>
                </a:solidFill>
              </a:rPr>
              <a:t>Precio por acción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159752" y="5586984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</a:rPr>
              <a:t>429,25 $/acción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655942" y="3997234"/>
            <a:ext cx="25146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793102" y="4106962"/>
            <a:ext cx="2240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D3A"/>
                </a:solidFill>
              </a:rPr>
              <a:t>y = x · F / (1 − F)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444862" y="3997234"/>
            <a:ext cx="28803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3582022" y="4106962"/>
            <a:ext cx="2606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D3A"/>
                </a:solidFill>
              </a:rPr>
              <a:t>p = I / y = Vpre / x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502920" y="651967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670"/>
                </a:solidFill>
              </a:rPr>
              <a:t>Fuente: Caso Zettle.xlsx; cálculos propios.</a:t>
            </a:r>
            <a:endParaRPr lang="en-US" sz="85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2795F3DB-FD5A-CDFE-ABD4-14698BC83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86"/>
          <a:stretch>
            <a:fillRect/>
          </a:stretch>
        </p:blipFill>
        <p:spPr>
          <a:xfrm>
            <a:off x="7683749" y="1262995"/>
            <a:ext cx="2732197" cy="21584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— </a:t>
            </a:r>
            <a:r>
              <a:rPr lang="en-US" sz="2400" b="1" dirty="0" err="1">
                <a:solidFill>
                  <a:srgbClr val="0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2400" b="1" dirty="0">
                <a:solidFill>
                  <a:srgbClr val="0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puntos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670"/>
                </a:solidFill>
              </a:rPr>
              <a:t>Respuesta directa a la pregunta sobre la ronda única.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00684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670"/>
                </a:solidFill>
              </a:rPr>
              <a:t>Zettle · Venture Capital 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43935"/>
            <a:ext cx="11201400" cy="0"/>
          </a:xfrm>
          <a:prstGeom prst="line">
            <a:avLst/>
          </a:prstGeom>
          <a:noFill/>
          <a:ln w="1270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46607" y="1371600"/>
            <a:ext cx="5349240" cy="196828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0160">
            <a:solidFill>
              <a:srgbClr val="D4DEE5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1030071" y="1472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3A"/>
                </a:solidFill>
              </a:rPr>
              <a:t>Resultado de la ronda única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8650" y="1519678"/>
            <a:ext cx="461772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La empresa necesita captar 321,41 M$.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El inversor recibe el 42,82%.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Los emprendedores conservan el 57,18%.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Se emiten 748.774 acciones nuevas.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El precio implícito es 429,25 $/acción.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1481328"/>
            <a:ext cx="4892040" cy="4343400"/>
          </a:xfrm>
          <a:prstGeom prst="roundRect">
            <a:avLst>
              <a:gd name="adj" fmla="val 2737"/>
            </a:avLst>
          </a:prstGeom>
          <a:solidFill>
            <a:srgbClr val="0F2D3A"/>
          </a:solidFill>
          <a:ln w="12700">
            <a:solidFill>
              <a:srgbClr val="0F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748272" y="17830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Mensaje final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48272" y="2423160"/>
            <a:ext cx="4251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 ronda única permite financiar todo el plan 2019-2022, pero provoca una dilución relevante para los fundadores.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48272" y="3703320"/>
            <a:ext cx="4224528" cy="1234440"/>
          </a:xfrm>
          <a:prstGeom prst="roundRect">
            <a:avLst>
              <a:gd name="adj" fmla="val 7407"/>
            </a:avLst>
          </a:prstGeom>
          <a:solidFill>
            <a:srgbClr val="123B4A"/>
          </a:solidFill>
          <a:ln w="12700">
            <a:solidFill>
              <a:srgbClr val="2B596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995160" y="3913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Interpretación: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4224528"/>
            <a:ext cx="3657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es una solución simple, aunque menos flexible que financiarse por varias rondas.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8890">
            <a:solidFill>
              <a:srgbClr val="D7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670"/>
                </a:solidFill>
              </a:rPr>
              <a:t>Fuente: Caso Zettle.xlsx; cálculos propios.</a:t>
            </a:r>
            <a:endParaRPr lang="en-US" sz="8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26862FC-ABC0-25A3-9C3C-DF5C9B46B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3391576"/>
            <a:ext cx="5079776" cy="30764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541</Words>
  <Application>Microsoft Office PowerPoint</Application>
  <PresentationFormat>Panorámica</PresentationFormat>
  <Paragraphs>113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UPM / ICT Business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Zettle - Partes 4 y 5</dc:title>
  <dc:subject>Zettle Venture Capital Method - Partes 4 y 5</dc:subject>
  <dc:creator>OpenAI</dc:creator>
  <cp:lastModifiedBy>ANDRES ROQUES SANCHEZ</cp:lastModifiedBy>
  <cp:revision>4</cp:revision>
  <dcterms:created xsi:type="dcterms:W3CDTF">2026-05-20T20:48:02Z</dcterms:created>
  <dcterms:modified xsi:type="dcterms:W3CDTF">2026-05-21T15:11:56Z</dcterms:modified>
</cp:coreProperties>
</file>