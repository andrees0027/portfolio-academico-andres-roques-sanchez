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1" r:id="rId6"/>
    <p:sldId id="286" r:id="rId7"/>
    <p:sldId id="272" r:id="rId8"/>
    <p:sldId id="280" r:id="rId9"/>
    <p:sldId id="273" r:id="rId10"/>
    <p:sldId id="281" r:id="rId11"/>
    <p:sldId id="275" r:id="rId12"/>
    <p:sldId id="276" r:id="rId13"/>
    <p:sldId id="278" r:id="rId14"/>
    <p:sldId id="283" r:id="rId15"/>
    <p:sldId id="277" r:id="rId16"/>
    <p:sldId id="285" r:id="rId17"/>
    <p:sldId id="279" r:id="rId18"/>
    <p:sldId id="284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EC6BF-17E9-7C08-46DE-0DEC04D9C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06DEF8-4DDB-21DA-DAAE-322F4BA74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DD4551-5132-967F-9832-544C5C9F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B94060-7B01-76E0-054E-23C09806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D3657-E17A-B1B9-5267-6F24EF22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361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71FA6-7414-215B-96C5-6EEE0D30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CF3F11-4760-DF71-4A4C-250A62BAA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56E1C1-719A-7696-1AF6-E2D97698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16D44D-A30E-D441-2A49-73BA6DA7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0CE63-6071-44D8-5B45-A36006AC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0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EAEC9-6EBE-49BB-4B24-A3E9778E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EF6CA0-F1A4-609E-C887-FB59AA7CF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8216A4-F424-DB37-9E09-F924405A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E83CBA-E280-7F1E-8640-9A0CC46E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288D48-5125-46AA-405F-E56ADD21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76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0DE6F-B33C-AD99-0A09-5E3E3BE8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BDCC31-2B40-3687-9E4F-588AFDA01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316BCA-C318-0943-FA06-024C07F73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0C39B-AF4B-A0AD-5857-D4870853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769794-8ED6-A802-125C-D0F7A90A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241B31-6227-C869-E4D8-5AF6121D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72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6C48F-58CB-B38D-D4E4-DB7BC2F4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2B47DD-0405-2DA6-DE61-EB3CB6455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810F11-93D9-9797-ACC9-E14BB6718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251A17-172B-BD2F-78DC-3F23E4FBC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A7A4F3-BC90-2E1F-EB12-204C065AD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F0F204-1E75-0829-DD4E-9447F2CC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6ADBEA-790D-1A8B-9CC3-4C07B545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72D5CF-6826-FE5A-F62D-3B393B6E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458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EE1AB-457C-C8A5-BC9E-5FCE636F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2F6CAD-ACCA-2DEC-8355-6FEC2B7D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356E68-6374-A3F7-F109-88E52095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20D727-EBB3-F28C-9893-58D992C2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160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687A49-4AB9-6BF5-80B9-4F620930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3A1B25-6BF3-7722-1412-1A944D10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FEE0F1-E389-D7CB-530B-7647BF16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74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CA757-34F4-8AEF-7C1B-878E35E83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DBDCA-C667-D882-6707-8F8EF7D5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1102A4-96D5-7744-E917-972420AFD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BCAD85-35C0-B299-FCCD-19D6EBF7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003AF8-8937-52DA-069A-E4E21790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2925D3-1625-88A7-4488-E8B669B0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60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3BA63-A28C-A607-5CD1-B5C0E517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5A27C4-0C7D-BED5-B84F-7CB26B532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683EFF-8264-9C35-58CE-E00767A13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D8FE5D-8DF6-33E7-9916-E4D30ADD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5D7A9D-061A-225F-4357-E1D96522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FBF5A2-0497-360F-32F5-50B4DD9A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32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209CB-B439-BE8E-AF48-A8CCC739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D6F012-B9F9-DB3A-5074-06C3F562B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ACDA8A-7608-EEA8-5740-08464C77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0B4DA0-3B87-4DA0-2B1B-09AD834E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BBB3C5-CF16-A57B-D121-6213BFF1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96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6182DE-65B6-4000-B83B-5663BF505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0A3B69-2090-BB9F-3AA6-8ED9B5B7C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CEF11-FD61-A180-9A51-1DD39AD1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6F48CC-DC5E-6DE3-E313-B4051670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22E234-5D77-BF92-2644-961B1768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9843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53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5B094C-FF5B-39B1-EE36-4141FDFF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D2E450-9502-0ECB-6078-A55857B4D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E85DC4-37ED-8F7E-A524-BC1A8D098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D182D-2A1F-45E4-9464-E780AF206F31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4BE1E-346E-AB04-28B4-760007575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49D8B-EC29-74F7-F245-D9FA24671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B0B7-5487-45B1-8382-F6B5D4B3D3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91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Text 1"/>
          <p:cNvSpPr/>
          <p:nvPr/>
        </p:nvSpPr>
        <p:spPr>
          <a:xfrm>
            <a:off x="5233493" y="1752105"/>
            <a:ext cx="6297017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8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Análisis de Clientes con KNIME: Del Dato a la Decisión</a:t>
            </a:r>
            <a:endParaRPr lang="en-US" sz="3867" dirty="0"/>
          </a:p>
        </p:txBody>
      </p:sp>
      <p:sp>
        <p:nvSpPr>
          <p:cNvPr id="5" name="Text 2"/>
          <p:cNvSpPr/>
          <p:nvPr/>
        </p:nvSpPr>
        <p:spPr>
          <a:xfrm>
            <a:off x="5233493" y="3896221"/>
            <a:ext cx="6297017" cy="2293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ES" sz="1467" dirty="0"/>
              <a:t>Uso de analítica de datos para segmentar clientes, personalizar campañas, definir estrategias de fidelización y detectar riesgo de abandono para priorizar acciones de marketing y retención.</a:t>
            </a:r>
            <a:endParaRPr lang="en-US" sz="1467" b="1" dirty="0">
              <a:solidFill>
                <a:srgbClr val="272525"/>
              </a:solidFill>
              <a:latin typeface="Aleo" panose="00000500000000000000" pitchFamily="2" charset="0"/>
              <a:ea typeface="Inter" pitchFamily="34" charset="-122"/>
              <a:cs typeface="Inter" pitchFamily="34" charset="-120"/>
            </a:endParaRPr>
          </a:p>
          <a:p>
            <a:pPr algn="ctr">
              <a:lnSpc>
                <a:spcPct val="133000"/>
              </a:lnSpc>
            </a:pPr>
            <a:endParaRPr lang="en-US" sz="1467" b="1" dirty="0">
              <a:solidFill>
                <a:srgbClr val="272525"/>
              </a:solidFill>
              <a:latin typeface="Aleo" panose="00000500000000000000" pitchFamily="2" charset="0"/>
              <a:ea typeface="Inter" pitchFamily="34" charset="-122"/>
              <a:cs typeface="Inter" pitchFamily="34" charset="-120"/>
            </a:endParaRPr>
          </a:p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272525"/>
                </a:solidFill>
                <a:latin typeface="Aleo" panose="00000500000000000000" pitchFamily="2" charset="0"/>
                <a:ea typeface="Inter" pitchFamily="34" charset="-122"/>
                <a:cs typeface="Inter" pitchFamily="34" charset="-120"/>
              </a:rPr>
              <a:t>ADIN - STAGE 2</a:t>
            </a:r>
            <a:endParaRPr lang="en-US" sz="1467" b="1" dirty="0"/>
          </a:p>
          <a:p>
            <a:pPr algn="r">
              <a:lnSpc>
                <a:spcPct val="133000"/>
              </a:lnSpc>
            </a:pPr>
            <a:endParaRPr lang="en-US" sz="1467" dirty="0"/>
          </a:p>
          <a:p>
            <a:pPr algn="r">
              <a:lnSpc>
                <a:spcPct val="133000"/>
              </a:lnSpc>
            </a:pPr>
            <a:r>
              <a:rPr lang="en-US" sz="1467" dirty="0"/>
              <a:t>Andrés Roques Sánchez</a:t>
            </a:r>
          </a:p>
        </p:txBody>
      </p:sp>
      <p:pic>
        <p:nvPicPr>
          <p:cNvPr id="6" name="Imagen 5" descr="LA IMPORTANCIA DEL ANÁLISIS DE DATOS EN EL EJERCICIO PROFESIONAL CONTABLE">
            <a:extLst>
              <a:ext uri="{FF2B5EF4-FFF2-40B4-BE49-F238E27FC236}">
                <a16:creationId xmlns:a16="http://schemas.microsoft.com/office/drawing/2014/main" id="{BF372C2F-32F0-4818-C2A6-C10E40C2F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19" y="1548619"/>
            <a:ext cx="3760763" cy="376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0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1216" y="455712"/>
            <a:ext cx="5744269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Objetivo General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1217" y="1170880"/>
            <a:ext cx="1079906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Resolver cómo priorizar clientes para campañas de </a:t>
            </a:r>
            <a:r>
              <a:rPr lang="en-US" sz="1133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fidelización, retención y reactivación</a:t>
            </a: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mediante un pipeline end-to-end en KNIME.</a:t>
            </a:r>
            <a:endParaRPr lang="en-US" sz="1133" dirty="0"/>
          </a:p>
        </p:txBody>
      </p:sp>
      <p:sp>
        <p:nvSpPr>
          <p:cNvPr id="4" name="Shape 2"/>
          <p:cNvSpPr/>
          <p:nvPr/>
        </p:nvSpPr>
        <p:spPr>
          <a:xfrm>
            <a:off x="1001217" y="1511003"/>
            <a:ext cx="10189468" cy="886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1020268" y="1530053"/>
            <a:ext cx="590649" cy="84792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ES" sz="2400" b="1"/>
          </a:p>
        </p:txBody>
      </p:sp>
      <p:sp>
        <p:nvSpPr>
          <p:cNvPr id="6" name="Text 4"/>
          <p:cNvSpPr/>
          <p:nvPr/>
        </p:nvSpPr>
        <p:spPr>
          <a:xfrm>
            <a:off x="900013" y="1815605"/>
            <a:ext cx="526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33" b="1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33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26209" y="1677690"/>
            <a:ext cx="326340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tipos de clientes existen?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726208" y="1989039"/>
            <a:ext cx="99073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Clustering k-Means y perfiles de segmentos accionables.</a:t>
            </a:r>
            <a:endParaRPr lang="en-US" sz="1133" dirty="0"/>
          </a:p>
        </p:txBody>
      </p:sp>
      <p:sp>
        <p:nvSpPr>
          <p:cNvPr id="9" name="Shape 7"/>
          <p:cNvSpPr/>
          <p:nvPr/>
        </p:nvSpPr>
        <p:spPr>
          <a:xfrm>
            <a:off x="1001217" y="2512317"/>
            <a:ext cx="10189468" cy="886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1020268" y="2531369"/>
            <a:ext cx="590649" cy="84792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ES" sz="2400" b="1"/>
          </a:p>
        </p:txBody>
      </p:sp>
      <p:sp>
        <p:nvSpPr>
          <p:cNvPr id="11" name="Text 9"/>
          <p:cNvSpPr/>
          <p:nvPr/>
        </p:nvSpPr>
        <p:spPr>
          <a:xfrm>
            <a:off x="900013" y="2816921"/>
            <a:ext cx="526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33" b="1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33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26209" y="2679006"/>
            <a:ext cx="35385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clientes tienen mayor valor?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726208" y="2990353"/>
            <a:ext cx="99073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 RFM y eje PCA de Customer Value.</a:t>
            </a:r>
            <a:endParaRPr lang="en-US" sz="1133" dirty="0"/>
          </a:p>
        </p:txBody>
      </p:sp>
      <p:sp>
        <p:nvSpPr>
          <p:cNvPr id="14" name="Shape 12"/>
          <p:cNvSpPr/>
          <p:nvPr/>
        </p:nvSpPr>
        <p:spPr>
          <a:xfrm>
            <a:off x="1001217" y="3513633"/>
            <a:ext cx="10189468" cy="886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5" name="Shape 13"/>
          <p:cNvSpPr/>
          <p:nvPr/>
        </p:nvSpPr>
        <p:spPr>
          <a:xfrm>
            <a:off x="1020268" y="3532685"/>
            <a:ext cx="590649" cy="84792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ES" sz="2400" b="1"/>
          </a:p>
        </p:txBody>
      </p:sp>
      <p:sp>
        <p:nvSpPr>
          <p:cNvPr id="16" name="Text 14"/>
          <p:cNvSpPr/>
          <p:nvPr/>
        </p:nvSpPr>
        <p:spPr>
          <a:xfrm>
            <a:off x="900013" y="3818235"/>
            <a:ext cx="526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33" b="1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33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26208" y="3680322"/>
            <a:ext cx="320813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clientes están en riesgo?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1726208" y="3991669"/>
            <a:ext cx="99073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Recency, tenure y segmentos At-Risk/Dormant.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1001217" y="4514949"/>
            <a:ext cx="10189468" cy="886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0" name="Shape 18"/>
          <p:cNvSpPr/>
          <p:nvPr/>
        </p:nvSpPr>
        <p:spPr>
          <a:xfrm>
            <a:off x="1020268" y="4533999"/>
            <a:ext cx="590649" cy="84792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ES" sz="2400" b="1"/>
          </a:p>
        </p:txBody>
      </p:sp>
      <p:sp>
        <p:nvSpPr>
          <p:cNvPr id="21" name="Text 19"/>
          <p:cNvSpPr/>
          <p:nvPr/>
        </p:nvSpPr>
        <p:spPr>
          <a:xfrm>
            <a:off x="900013" y="4819551"/>
            <a:ext cx="526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33" b="1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33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26209" y="4681638"/>
            <a:ext cx="343316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¿Podemos predecir el abandono?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726208" y="4992985"/>
            <a:ext cx="99073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supervisado de churn con cutoff temporal.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1001217" y="5516265"/>
            <a:ext cx="10189468" cy="886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5" name="Shape 23"/>
          <p:cNvSpPr/>
          <p:nvPr/>
        </p:nvSpPr>
        <p:spPr>
          <a:xfrm>
            <a:off x="1020268" y="5535315"/>
            <a:ext cx="590649" cy="84792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ES" sz="2400" b="1"/>
          </a:p>
        </p:txBody>
      </p:sp>
      <p:sp>
        <p:nvSpPr>
          <p:cNvPr id="26" name="Text 24"/>
          <p:cNvSpPr/>
          <p:nvPr/>
        </p:nvSpPr>
        <p:spPr>
          <a:xfrm>
            <a:off x="900013" y="5820867"/>
            <a:ext cx="5262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33" b="1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733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26209" y="5682953"/>
            <a:ext cx="272524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acciones priorizar?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1726208" y="5994301"/>
            <a:ext cx="990738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Recomendaciones por segmento y riesgo de churn.</a:t>
            </a:r>
            <a:endParaRPr lang="en-US" sz="1133" dirty="0"/>
          </a:p>
        </p:txBody>
      </p:sp>
    </p:spTree>
    <p:extLst>
      <p:ext uri="{BB962C8B-B14F-4D97-AF65-F5344CB8AC3E}">
        <p14:creationId xmlns:p14="http://schemas.microsoft.com/office/powerpoint/2010/main" val="5662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89DB-F996-8ECD-8B05-C35A7783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5065" y="525982"/>
            <a:ext cx="4282983" cy="1200361"/>
          </a:xfrm>
          <a:prstGeom prst="rect">
            <a:avLst/>
          </a:prstGeom>
        </p:spPr>
        <p:txBody>
          <a:bodyPr vert="horz" lIns="121920" tIns="60960" rIns="121920" bIns="6096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600" dirty="0" err="1">
                <a:latin typeface="PT Serif" panose="020A0603040505020204" pitchFamily="18" charset="0"/>
                <a:ea typeface="+mj-ea"/>
                <a:cs typeface="+mj-cs"/>
              </a:rPr>
              <a:t>Estructura</a:t>
            </a:r>
            <a:r>
              <a:rPr lang="en-US" sz="3600" dirty="0">
                <a:latin typeface="PT Serif" panose="020A0603040505020204" pitchFamily="18" charset="0"/>
                <a:ea typeface="+mj-ea"/>
                <a:cs typeface="+mj-cs"/>
              </a:rPr>
              <a:t> General del Workflow KNIME</a:t>
            </a:r>
          </a:p>
        </p:txBody>
      </p:sp>
      <p:sp>
        <p:nvSpPr>
          <p:cNvPr id="5" name="Text 3"/>
          <p:cNvSpPr/>
          <p:nvPr/>
        </p:nvSpPr>
        <p:spPr>
          <a:xfrm>
            <a:off x="645065" y="2031100"/>
            <a:ext cx="4282984" cy="3511944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1867" dirty="0">
                <a:latin typeface="DM Sans" pitchFamily="2" charset="0"/>
              </a:rPr>
              <a:t>El workflow se </a:t>
            </a:r>
            <a:r>
              <a:rPr lang="en-US" sz="1867" dirty="0" err="1">
                <a:latin typeface="DM Sans" pitchFamily="2" charset="0"/>
              </a:rPr>
              <a:t>organiza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en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tres</a:t>
            </a:r>
            <a:r>
              <a:rPr lang="en-US" sz="1867" dirty="0">
                <a:latin typeface="DM Sans" pitchFamily="2" charset="0"/>
              </a:rPr>
              <a:t> macro-</a:t>
            </a:r>
            <a:r>
              <a:rPr lang="en-US" sz="1867" dirty="0" err="1">
                <a:latin typeface="DM Sans" pitchFamily="2" charset="0"/>
              </a:rPr>
              <a:t>bloques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secuenciales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que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transforman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datos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brutos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en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decisiones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comerciales</a:t>
            </a:r>
            <a:r>
              <a:rPr lang="en-US" sz="1867" dirty="0">
                <a:latin typeface="DM Sans" pitchFamily="2" charset="0"/>
              </a:rPr>
              <a:t> </a:t>
            </a:r>
            <a:r>
              <a:rPr lang="en-US" sz="1867" dirty="0" err="1">
                <a:latin typeface="DM Sans" pitchFamily="2" charset="0"/>
              </a:rPr>
              <a:t>accionables</a:t>
            </a:r>
            <a:r>
              <a:rPr lang="en-US" sz="1867" dirty="0">
                <a:latin typeface="DM Sans" pitchFamily="2" charset="0"/>
              </a:rPr>
              <a:t>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E4D013-2772-76C0-BB05-47DA261F7C87}"/>
              </a:ext>
            </a:extLst>
          </p:cNvPr>
          <p:cNvSpPr/>
          <p:nvPr/>
        </p:nvSpPr>
        <p:spPr>
          <a:xfrm>
            <a:off x="0" y="5760090"/>
            <a:ext cx="12192000" cy="74219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F7AB055-909B-C5C1-8580-C7528DB3A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8750" y="355719"/>
            <a:ext cx="6481172" cy="5819302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A682259-6A7A-4134-F671-0EC773D8630B}"/>
              </a:ext>
            </a:extLst>
          </p:cNvPr>
          <p:cNvCxnSpPr>
            <a:cxnSpLocks/>
          </p:cNvCxnSpPr>
          <p:nvPr/>
        </p:nvCxnSpPr>
        <p:spPr>
          <a:xfrm>
            <a:off x="616532" y="1944912"/>
            <a:ext cx="402336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3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AFAB-BBD8-6A06-C746-DE8E45D5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145" y="484178"/>
            <a:ext cx="715305" cy="286703"/>
          </a:xfrm>
          <a:prstGeom prst="roundRect">
            <a:avLst>
              <a:gd name="adj" fmla="val 7320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698986" y="551359"/>
            <a:ext cx="1159900" cy="152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9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BLOQUE 1</a:t>
            </a:r>
            <a:endParaRPr lang="en-US" sz="933" dirty="0"/>
          </a:p>
        </p:txBody>
      </p:sp>
      <p:sp>
        <p:nvSpPr>
          <p:cNvPr id="4" name="Text 2"/>
          <p:cNvSpPr/>
          <p:nvPr/>
        </p:nvSpPr>
        <p:spPr>
          <a:xfrm>
            <a:off x="628144" y="739081"/>
            <a:ext cx="8109456" cy="58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Limpieza de Transacciones y Creación del CSV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49954" y="1947327"/>
            <a:ext cx="5386447" cy="210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eliminaron cancelaciones, clientes desconocidos,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duplicados</a:t>
            </a:r>
            <a:endParaRPr lang="en-US" sz="1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registros inválidos para garantizar calidad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analítica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>
              <a:lnSpc>
                <a:spcPct val="108000"/>
              </a:lnSpc>
            </a:pP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08000"/>
              </a:lnSpc>
            </a:pPr>
            <a:r>
              <a:rPr lang="es-ES" sz="1400" b="1" dirty="0" err="1">
                <a:solidFill>
                  <a:srgbClr val="383838"/>
                </a:solidFill>
                <a:latin typeface="DM Sans" pitchFamily="34" charset="0"/>
              </a:rPr>
              <a:t>Dataset</a:t>
            </a:r>
            <a:r>
              <a:rPr lang="es-ES" sz="1400" b="1" dirty="0">
                <a:solidFill>
                  <a:srgbClr val="383838"/>
                </a:solidFill>
                <a:latin typeface="DM Sans" pitchFamily="34" charset="0"/>
              </a:rPr>
              <a:t> inicial → </a:t>
            </a:r>
            <a:r>
              <a:rPr lang="es-ES" sz="1400" b="1" dirty="0" err="1">
                <a:solidFill>
                  <a:srgbClr val="383838"/>
                </a:solidFill>
                <a:latin typeface="DM Sans" pitchFamily="34" charset="0"/>
              </a:rPr>
              <a:t>Dataset</a:t>
            </a:r>
            <a:r>
              <a:rPr lang="es-ES" sz="1400" b="1" dirty="0">
                <a:solidFill>
                  <a:srgbClr val="383838"/>
                </a:solidFill>
                <a:latin typeface="DM Sans" pitchFamily="34" charset="0"/>
              </a:rPr>
              <a:t> limpio (73%)</a:t>
            </a:r>
          </a:p>
          <a:p>
            <a:pPr>
              <a:lnSpc>
                <a:spcPct val="108000"/>
              </a:lnSpc>
            </a:pPr>
            <a:br>
              <a:rPr lang="es-ES" sz="1400" dirty="0">
                <a:solidFill>
                  <a:srgbClr val="383838"/>
                </a:solidFill>
                <a:latin typeface="DM Sans" pitchFamily="34" charset="0"/>
              </a:rPr>
            </a:br>
            <a:r>
              <a:rPr lang="es-ES" sz="1400" dirty="0">
                <a:solidFill>
                  <a:srgbClr val="383838"/>
                </a:solidFill>
                <a:latin typeface="DM Sans" pitchFamily="34" charset="0"/>
              </a:rPr>
              <a:t>1.067.371 transacciones iniciales → 779.425 transacciones válidas</a:t>
            </a:r>
          </a:p>
          <a:p>
            <a:pPr>
              <a:lnSpc>
                <a:spcPct val="108000"/>
              </a:lnSpc>
            </a:pPr>
            <a:br>
              <a:rPr lang="es-ES" sz="1400" dirty="0">
                <a:solidFill>
                  <a:srgbClr val="383838"/>
                </a:solidFill>
                <a:latin typeface="DM Sans" pitchFamily="34" charset="0"/>
              </a:rPr>
            </a:br>
            <a:r>
              <a:rPr lang="es-ES" sz="1400" dirty="0">
                <a:solidFill>
                  <a:srgbClr val="383838"/>
                </a:solidFill>
                <a:latin typeface="DM Sans" pitchFamily="34" charset="0"/>
              </a:rPr>
              <a:t>Tras eliminar cancelaciones, clientes desconocidos, duplicados y</a:t>
            </a:r>
          </a:p>
          <a:p>
            <a:pPr>
              <a:lnSpc>
                <a:spcPct val="108000"/>
              </a:lnSpc>
            </a:pPr>
            <a:r>
              <a:rPr lang="es-ES" sz="1400" dirty="0">
                <a:solidFill>
                  <a:srgbClr val="383838"/>
                </a:solidFill>
                <a:latin typeface="DM Sans" pitchFamily="34" charset="0"/>
              </a:rPr>
              <a:t>registros inválidos.</a:t>
            </a: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08000"/>
              </a:lnSpc>
            </a:pP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08000"/>
              </a:lnSpc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994" y="1649215"/>
            <a:ext cx="2160092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CSV Reader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994" y="1916807"/>
            <a:ext cx="58072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Carga del dataset; las facturas canceladas empiezan por "C".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994" y="2505274"/>
            <a:ext cx="3414911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Column Renamer + String to Date&amp;Time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994" y="2772867"/>
            <a:ext cx="58072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Nombres sin espacios y fechas para cálculos temporales.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0994" y="3361334"/>
            <a:ext cx="2160092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Rule-based Row Filter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994" y="3628926"/>
            <a:ext cx="58072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 solo compras válidas y clientes identificables.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0994" y="4217393"/>
            <a:ext cx="2160092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Duplicate Row Filter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0994" y="4484986"/>
            <a:ext cx="58072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Evita inflar revenue, frecuencia y cantidad.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994" y="5073453"/>
            <a:ext cx="3136305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 Formula + String Manipulation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994" y="5341045"/>
            <a:ext cx="58072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económico por línea; CustomerID como identificador textual.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0994" y="5929511"/>
            <a:ext cx="2160092" cy="19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CSV Writer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0994" y="6197105"/>
            <a:ext cx="5807273" cy="304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limpia para EDA, Superset y validación.</a:t>
            </a: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6E4286C-0182-DEB6-C5D8-7B04E456B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5" b="89963" l="9945" r="98481">
                        <a14:foregroundMark x1="12224" y1="74125" x2="10704" y2="40239"/>
                        <a14:foregroundMark x1="10704" y1="40239" x2="14503" y2="72836"/>
                        <a14:foregroundMark x1="97859" y1="62155" x2="79075" y2="41621"/>
                        <a14:foregroundMark x1="79075" y1="41621" x2="96409" y2="7735"/>
                        <a14:foregroundMark x1="96409" y1="7735" x2="98481" y2="61510"/>
                        <a14:foregroundMark x1="98481" y1="61510" x2="97859" y2="63444"/>
                        <a14:foregroundMark x1="20580" y1="73297" x2="22238" y2="71915"/>
                        <a14:foregroundMark x1="16851" y1="58103" x2="19544" y2="581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42253" y="3839184"/>
            <a:ext cx="3549747" cy="26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9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1308-1090-78CE-246E-2ED7825F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229" y="433923"/>
            <a:ext cx="738352" cy="270779"/>
          </a:xfrm>
          <a:prstGeom prst="roundRect">
            <a:avLst>
              <a:gd name="adj" fmla="val 7025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648474" y="475495"/>
            <a:ext cx="1215901" cy="270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8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BLOQUE 2</a:t>
            </a:r>
            <a:endParaRPr lang="en-US" sz="867" dirty="0"/>
          </a:p>
        </p:txBody>
      </p:sp>
      <p:sp>
        <p:nvSpPr>
          <p:cNvPr id="4" name="Text 2"/>
          <p:cNvSpPr/>
          <p:nvPr/>
        </p:nvSpPr>
        <p:spPr>
          <a:xfrm>
            <a:off x="565229" y="711736"/>
            <a:ext cx="8030131" cy="800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Segmentación No Supervisada: Tabla RFM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5230" y="1320144"/>
            <a:ext cx="10979477" cy="33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Transformación de granularidad transacción → cliente con 15 métricas de comportamiento para clustering y PCA.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59" y="1699026"/>
            <a:ext cx="4619724" cy="4619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19678" y="1903057"/>
            <a:ext cx="289341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¿Qué miden estas variables?</a:t>
            </a:r>
            <a:endParaRPr lang="en-US" sz="1467" dirty="0"/>
          </a:p>
        </p:txBody>
      </p:sp>
      <p:sp>
        <p:nvSpPr>
          <p:cNvPr id="9" name="Text 5"/>
          <p:cNvSpPr/>
          <p:nvPr/>
        </p:nvSpPr>
        <p:spPr>
          <a:xfrm>
            <a:off x="5519678" y="2160801"/>
            <a:ext cx="4852901" cy="83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>
              <a:lnSpc>
                <a:spcPct val="116000"/>
              </a:lnSpc>
              <a:buSzPct val="100000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revenue total, frecuencia de facturas, precio medio.</a:t>
            </a:r>
            <a:endParaRPr lang="en-US" sz="1200" dirty="0"/>
          </a:p>
          <a:p>
            <a:pPr lvl="1">
              <a:lnSpc>
                <a:spcPct val="116000"/>
              </a:lnSpc>
              <a:buSzPct val="100000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Actividad: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días desde última compra, duración de relación.</a:t>
            </a:r>
            <a:endParaRPr lang="en-US" sz="1200" dirty="0"/>
          </a:p>
          <a:p>
            <a:pPr lvl="1">
              <a:lnSpc>
                <a:spcPct val="116000"/>
              </a:lnSpc>
              <a:buSzPct val="100000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Complejidad: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variedad de productos, líneas por factura.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19678" y="2973331"/>
            <a:ext cx="5229324" cy="34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para feature engineering, k-Means y visualización PCA.</a:t>
            </a:r>
          </a:p>
          <a:p>
            <a:pPr>
              <a:lnSpc>
                <a:spcPct val="116000"/>
              </a:lnSpc>
            </a:pPr>
            <a:endParaRPr lang="en-US" sz="1067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16000"/>
              </a:lnSpc>
            </a:pPr>
            <a:endParaRPr lang="en-US" sz="1067" dirty="0"/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0D6B0A36-2864-D7AA-546E-6C7172647B38}"/>
              </a:ext>
            </a:extLst>
          </p:cNvPr>
          <p:cNvGraphicFramePr>
            <a:graphicFrameLocks noGrp="1"/>
          </p:cNvGraphicFramePr>
          <p:nvPr/>
        </p:nvGraphicFramePr>
        <p:xfrm>
          <a:off x="7416800" y="3360944"/>
          <a:ext cx="2844800" cy="2764155"/>
        </p:xfrm>
        <a:graphic>
          <a:graphicData uri="http://schemas.openxmlformats.org/drawingml/2006/table">
            <a:tbl>
              <a:tblPr firstRow="1" firstCol="1" bandRow="1"/>
              <a:tblGrid>
                <a:gridCol w="2844800">
                  <a:extLst>
                    <a:ext uri="{9D8B030D-6E8A-4147-A177-3AD203B41FA5}">
                      <a16:colId xmlns:a16="http://schemas.microsoft.com/office/drawing/2014/main" val="1848310235"/>
                    </a:ext>
                  </a:extLst>
                </a:gridCol>
              </a:tblGrid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Última compra observada.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25607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Primera compra observada.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876919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Número de facturas del cliente.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37061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Valor monetario total del cliente.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041971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Cantidad total comprada.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370102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Variedad de productos comprados.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608895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Número de líneas de transacción.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03673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Precio unitario medio.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1882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Revenue medio por línea.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74424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País principal o de primera aparición.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272306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Días desde la última compra.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139234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Duración de la relación con el cliente.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913258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Valor medio de factura.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537052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 media de compra.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39165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Variedad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media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factura.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91157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DF8D03BA-A17A-8F6D-36A0-7D480246913B}"/>
              </a:ext>
            </a:extLst>
          </p:cNvPr>
          <p:cNvGraphicFramePr>
            <a:graphicFrameLocks noGrp="1"/>
          </p:cNvGraphicFramePr>
          <p:nvPr/>
        </p:nvGraphicFramePr>
        <p:xfrm>
          <a:off x="5519677" y="3360944"/>
          <a:ext cx="1676400" cy="2764155"/>
        </p:xfrm>
        <a:graphic>
          <a:graphicData uri="http://schemas.openxmlformats.org/drawingml/2006/table">
            <a:tbl>
              <a:tblPr firstRow="1" firstCol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16140045"/>
                    </a:ext>
                  </a:extLst>
                </a:gridCol>
              </a:tblGrid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last_purchase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277287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first_purchase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274016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invoice_frequency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754223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total_revenue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405801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total_quantity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619211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unique_products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939664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transaction_lines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826854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avg_unit_price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084212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avg_line_revenue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832065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main_country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4308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recency_days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30770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tenure_days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666059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avg_basket_value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38009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lines_per_invoice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14802"/>
                  </a:ext>
                </a:extLst>
              </a:tr>
              <a:tr h="184235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products_per_invoice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31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81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DEA60E-15AA-761E-4BAA-41366C81A519}"/>
              </a:ext>
            </a:extLst>
          </p:cNvPr>
          <p:cNvSpPr/>
          <p:nvPr/>
        </p:nvSpPr>
        <p:spPr>
          <a:xfrm>
            <a:off x="566927" y="457199"/>
            <a:ext cx="1944329" cy="329184"/>
          </a:xfrm>
          <a:prstGeom prst="roundRect">
            <a:avLst/>
          </a:prstGeom>
          <a:solidFill>
            <a:srgbClr val="FFDECC"/>
          </a:solidFill>
          <a:ln/>
        </p:spPr>
        <p:txBody>
          <a:bodyPr/>
          <a:lstStyle/>
          <a:p>
            <a:endParaRPr sz="24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FC9C9-BC88-9E10-B3D0-2CE2E9C79058}"/>
              </a:ext>
            </a:extLst>
          </p:cNvPr>
          <p:cNvSpPr txBox="1"/>
          <p:nvPr/>
        </p:nvSpPr>
        <p:spPr>
          <a:xfrm>
            <a:off x="845462" y="545742"/>
            <a:ext cx="151344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dirty="0">
                <a:latin typeface="DM Sans"/>
              </a:rPr>
              <a:t>FEATURE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F6B36-413C-138B-65A4-8B15EE9E524A}"/>
              </a:ext>
            </a:extLst>
          </p:cNvPr>
          <p:cNvSpPr txBox="1"/>
          <p:nvPr/>
        </p:nvSpPr>
        <p:spPr>
          <a:xfrm>
            <a:off x="562569" y="844139"/>
            <a:ext cx="103327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0" dirty="0" err="1">
                <a:solidFill>
                  <a:srgbClr val="020202"/>
                </a:solidFill>
                <a:latin typeface="PT Serif"/>
              </a:rPr>
              <a:t>Correlaciones</a:t>
            </a:r>
            <a:r>
              <a:rPr sz="2600" b="0" dirty="0">
                <a:solidFill>
                  <a:srgbClr val="020202"/>
                </a:solidFill>
                <a:latin typeface="PT Serif"/>
              </a:rPr>
              <a:t>, outliers y </a:t>
            </a:r>
            <a:r>
              <a:rPr sz="2600" b="0" dirty="0" err="1">
                <a:solidFill>
                  <a:srgbClr val="020202"/>
                </a:solidFill>
                <a:latin typeface="PT Serif"/>
              </a:rPr>
              <a:t>selección</a:t>
            </a:r>
            <a:r>
              <a:rPr sz="2600" b="0" dirty="0">
                <a:solidFill>
                  <a:srgbClr val="020202"/>
                </a:solidFill>
                <a:latin typeface="PT Serif"/>
              </a:rPr>
              <a:t> de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349EE-0396-BC66-5612-074355BE25E2}"/>
              </a:ext>
            </a:extLst>
          </p:cNvPr>
          <p:cNvSpPr txBox="1"/>
          <p:nvPr/>
        </p:nvSpPr>
        <p:spPr>
          <a:xfrm>
            <a:off x="566928" y="1408176"/>
            <a:ext cx="975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A5A5A"/>
                </a:solidFill>
                <a:latin typeface="DM Sans"/>
              </a:rPr>
              <a:t>El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análisis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de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relaciones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y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distribuciones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justifica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el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uso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de variables RFM,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transformaciones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logarítmicas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y PCA para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visualizar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segmentos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C3D29-69E9-CCA5-D0B4-62813ADFD17D}"/>
              </a:ext>
            </a:extLst>
          </p:cNvPr>
          <p:cNvSpPr txBox="1"/>
          <p:nvPr/>
        </p:nvSpPr>
        <p:spPr>
          <a:xfrm>
            <a:off x="744049" y="2126086"/>
            <a:ext cx="516327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dirty="0" err="1">
                <a:solidFill>
                  <a:srgbClr val="202020"/>
                </a:solidFill>
                <a:latin typeface="Georgia"/>
              </a:rPr>
              <a:t>Relaciones</a:t>
            </a:r>
            <a:r>
              <a:rPr sz="2400" b="0" dirty="0">
                <a:solidFill>
                  <a:srgbClr val="202020"/>
                </a:solidFill>
                <a:latin typeface="Georgia"/>
              </a:rPr>
              <a:t> </a:t>
            </a:r>
            <a:r>
              <a:rPr lang="es-ES" sz="2400" b="0" dirty="0">
                <a:solidFill>
                  <a:srgbClr val="202020"/>
                </a:solidFill>
                <a:latin typeface="Georgia"/>
              </a:rPr>
              <a:t>relevantes </a:t>
            </a:r>
            <a:r>
              <a:rPr sz="2400" b="0" dirty="0">
                <a:solidFill>
                  <a:srgbClr val="202020"/>
                </a:solidFill>
                <a:latin typeface="Georgia"/>
              </a:rPr>
              <a:t>entre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51442-5B8A-73B5-1D1B-59FFCC520973}"/>
              </a:ext>
            </a:extLst>
          </p:cNvPr>
          <p:cNvSpPr txBox="1"/>
          <p:nvPr/>
        </p:nvSpPr>
        <p:spPr>
          <a:xfrm>
            <a:off x="1252695" y="2725579"/>
            <a:ext cx="65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sz="3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AD411F-AEFC-3E74-338C-648710A4C5D6}"/>
              </a:ext>
            </a:extLst>
          </p:cNvPr>
          <p:cNvSpPr/>
          <p:nvPr/>
        </p:nvSpPr>
        <p:spPr>
          <a:xfrm>
            <a:off x="1792224" y="2743200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06F171-1241-BDA7-B623-36C46D482AC3}"/>
              </a:ext>
            </a:extLst>
          </p:cNvPr>
          <p:cNvSpPr txBox="1"/>
          <p:nvPr/>
        </p:nvSpPr>
        <p:spPr>
          <a:xfrm>
            <a:off x="2051194" y="2891009"/>
            <a:ext cx="561052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Revenue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AE8A2C-DE7E-54C1-ADBE-ECBE073CD118}"/>
              </a:ext>
            </a:extLst>
          </p:cNvPr>
          <p:cNvSpPr/>
          <p:nvPr/>
        </p:nvSpPr>
        <p:spPr>
          <a:xfrm>
            <a:off x="2871215" y="2743200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B069D-C8DE-D700-7839-8AB408F06229}"/>
              </a:ext>
            </a:extLst>
          </p:cNvPr>
          <p:cNvSpPr txBox="1"/>
          <p:nvPr/>
        </p:nvSpPr>
        <p:spPr>
          <a:xfrm>
            <a:off x="3061256" y="2891009"/>
            <a:ext cx="698910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Frequency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ED9C71-0141-4767-6A0D-6EE7D10CC541}"/>
              </a:ext>
            </a:extLst>
          </p:cNvPr>
          <p:cNvSpPr/>
          <p:nvPr/>
        </p:nvSpPr>
        <p:spPr>
          <a:xfrm>
            <a:off x="3950208" y="2743200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4B112F-4DE6-717E-1A62-39AFF61EEE85}"/>
              </a:ext>
            </a:extLst>
          </p:cNvPr>
          <p:cNvSpPr txBox="1"/>
          <p:nvPr/>
        </p:nvSpPr>
        <p:spPr>
          <a:xfrm>
            <a:off x="4202767" y="2891009"/>
            <a:ext cx="573876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Quantity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E99B4-5580-4A72-10EB-4744900C3FBF}"/>
              </a:ext>
            </a:extLst>
          </p:cNvPr>
          <p:cNvSpPr/>
          <p:nvPr/>
        </p:nvSpPr>
        <p:spPr>
          <a:xfrm>
            <a:off x="5029200" y="2743200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ED6620-64A0-5FD5-A3BC-8F70FE8C297D}"/>
              </a:ext>
            </a:extLst>
          </p:cNvPr>
          <p:cNvSpPr txBox="1"/>
          <p:nvPr/>
        </p:nvSpPr>
        <p:spPr>
          <a:xfrm>
            <a:off x="5285766" y="2891009"/>
            <a:ext cx="565861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Recency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047B45-A365-5B43-361A-3176999BAD0C}"/>
              </a:ext>
            </a:extLst>
          </p:cNvPr>
          <p:cNvSpPr/>
          <p:nvPr/>
        </p:nvSpPr>
        <p:spPr>
          <a:xfrm>
            <a:off x="713232" y="3182112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FEBE0C-22CE-3093-23F9-E2D065886FC0}"/>
              </a:ext>
            </a:extLst>
          </p:cNvPr>
          <p:cNvSpPr txBox="1"/>
          <p:nvPr/>
        </p:nvSpPr>
        <p:spPr>
          <a:xfrm>
            <a:off x="972202" y="3329921"/>
            <a:ext cx="561052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Revenue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2AB7B0-0124-2572-2799-0CF895F4D3CD}"/>
              </a:ext>
            </a:extLst>
          </p:cNvPr>
          <p:cNvSpPr/>
          <p:nvPr/>
        </p:nvSpPr>
        <p:spPr>
          <a:xfrm>
            <a:off x="1792224" y="3182112"/>
            <a:ext cx="1078992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D8603-0D31-2A41-1824-7A3CD05EB38F}"/>
              </a:ext>
            </a:extLst>
          </p:cNvPr>
          <p:cNvSpPr/>
          <p:nvPr/>
        </p:nvSpPr>
        <p:spPr>
          <a:xfrm>
            <a:off x="2871215" y="3182112"/>
            <a:ext cx="1078992" cy="438912"/>
          </a:xfrm>
          <a:prstGeom prst="rect">
            <a:avLst/>
          </a:prstGeom>
          <a:solidFill>
            <a:srgbClr val="F19D5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688A49-229E-AB07-BDD2-B03C17C26748}"/>
              </a:ext>
            </a:extLst>
          </p:cNvPr>
          <p:cNvSpPr txBox="1"/>
          <p:nvPr/>
        </p:nvSpPr>
        <p:spPr>
          <a:xfrm>
            <a:off x="3231175" y="3329921"/>
            <a:ext cx="359073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Alta +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5E99C3-DC25-2D34-19B5-62499EBABC33}"/>
              </a:ext>
            </a:extLst>
          </p:cNvPr>
          <p:cNvSpPr/>
          <p:nvPr/>
        </p:nvSpPr>
        <p:spPr>
          <a:xfrm>
            <a:off x="3950208" y="3182112"/>
            <a:ext cx="1078992" cy="438912"/>
          </a:xfrm>
          <a:prstGeom prst="rect">
            <a:avLst/>
          </a:prstGeom>
          <a:solidFill>
            <a:srgbClr val="BE54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DB72A6-D973-840E-6D14-3A828D36E6C1}"/>
              </a:ext>
            </a:extLst>
          </p:cNvPr>
          <p:cNvSpPr txBox="1"/>
          <p:nvPr/>
        </p:nvSpPr>
        <p:spPr>
          <a:xfrm>
            <a:off x="4168301" y="3329921"/>
            <a:ext cx="642805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M Sans"/>
              </a:rPr>
              <a:t>Muy alta 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5ACFEE-5F03-C2AC-C35E-52D17BCFD30F}"/>
              </a:ext>
            </a:extLst>
          </p:cNvPr>
          <p:cNvSpPr/>
          <p:nvPr/>
        </p:nvSpPr>
        <p:spPr>
          <a:xfrm>
            <a:off x="5029200" y="3182112"/>
            <a:ext cx="1078992" cy="438912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6D7E64-6E8A-0CA5-9F65-A7B4BE74D072}"/>
              </a:ext>
            </a:extLst>
          </p:cNvPr>
          <p:cNvSpPr txBox="1"/>
          <p:nvPr/>
        </p:nvSpPr>
        <p:spPr>
          <a:xfrm>
            <a:off x="5296987" y="3329921"/>
            <a:ext cx="543418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Negativa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7D0600-BABE-E10E-3E8D-86B4F9D31DCD}"/>
              </a:ext>
            </a:extLst>
          </p:cNvPr>
          <p:cNvSpPr/>
          <p:nvPr/>
        </p:nvSpPr>
        <p:spPr>
          <a:xfrm>
            <a:off x="713232" y="3621024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25ACF7-20F1-FABF-1707-A72720F143FD}"/>
              </a:ext>
            </a:extLst>
          </p:cNvPr>
          <p:cNvSpPr txBox="1"/>
          <p:nvPr/>
        </p:nvSpPr>
        <p:spPr>
          <a:xfrm>
            <a:off x="903273" y="3768832"/>
            <a:ext cx="698910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Frequency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F7E57B-80FD-D68D-ED4A-FE634ED119E6}"/>
              </a:ext>
            </a:extLst>
          </p:cNvPr>
          <p:cNvSpPr/>
          <p:nvPr/>
        </p:nvSpPr>
        <p:spPr>
          <a:xfrm>
            <a:off x="1792224" y="3621024"/>
            <a:ext cx="1078992" cy="438912"/>
          </a:xfrm>
          <a:prstGeom prst="rect">
            <a:avLst/>
          </a:prstGeom>
          <a:solidFill>
            <a:srgbClr val="F19D5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B79771-C01B-16A5-2E39-EE63F18842BF}"/>
              </a:ext>
            </a:extLst>
          </p:cNvPr>
          <p:cNvSpPr txBox="1"/>
          <p:nvPr/>
        </p:nvSpPr>
        <p:spPr>
          <a:xfrm>
            <a:off x="2152184" y="3768832"/>
            <a:ext cx="359073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Alta 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5553D2-1B64-FC87-41CF-CF5C468BC293}"/>
              </a:ext>
            </a:extLst>
          </p:cNvPr>
          <p:cNvSpPr/>
          <p:nvPr/>
        </p:nvSpPr>
        <p:spPr>
          <a:xfrm>
            <a:off x="2871215" y="3621024"/>
            <a:ext cx="1078992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4A97D3-4AD3-FEE2-8F99-B0BAC65C26F3}"/>
              </a:ext>
            </a:extLst>
          </p:cNvPr>
          <p:cNvSpPr/>
          <p:nvPr/>
        </p:nvSpPr>
        <p:spPr>
          <a:xfrm>
            <a:off x="3950208" y="3621024"/>
            <a:ext cx="1078992" cy="438912"/>
          </a:xfrm>
          <a:prstGeom prst="rect">
            <a:avLst/>
          </a:prstGeom>
          <a:solidFill>
            <a:srgbClr val="F8C39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5C23F8-5F3E-DC87-C8ED-058FD58945FA}"/>
              </a:ext>
            </a:extLst>
          </p:cNvPr>
          <p:cNvSpPr txBox="1"/>
          <p:nvPr/>
        </p:nvSpPr>
        <p:spPr>
          <a:xfrm>
            <a:off x="4242841" y="3768832"/>
            <a:ext cx="493725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Media +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4160D7-AE06-612A-9D93-306537065AB0}"/>
              </a:ext>
            </a:extLst>
          </p:cNvPr>
          <p:cNvSpPr/>
          <p:nvPr/>
        </p:nvSpPr>
        <p:spPr>
          <a:xfrm>
            <a:off x="5029200" y="3621024"/>
            <a:ext cx="1078992" cy="438912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2C983C-7495-4885-2A24-7DEDAB7827DD}"/>
              </a:ext>
            </a:extLst>
          </p:cNvPr>
          <p:cNvSpPr txBox="1"/>
          <p:nvPr/>
        </p:nvSpPr>
        <p:spPr>
          <a:xfrm>
            <a:off x="5296987" y="3768832"/>
            <a:ext cx="543418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Negativa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FF2283-215F-3CBD-E105-14B348905438}"/>
              </a:ext>
            </a:extLst>
          </p:cNvPr>
          <p:cNvSpPr/>
          <p:nvPr/>
        </p:nvSpPr>
        <p:spPr>
          <a:xfrm>
            <a:off x="713232" y="4059935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64013-2889-7B18-D0AD-48EEFB647067}"/>
              </a:ext>
            </a:extLst>
          </p:cNvPr>
          <p:cNvSpPr txBox="1"/>
          <p:nvPr/>
        </p:nvSpPr>
        <p:spPr>
          <a:xfrm>
            <a:off x="965791" y="4207744"/>
            <a:ext cx="573876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Quantity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7DD4CF-A388-9A24-3D6C-EFA439C870FF}"/>
              </a:ext>
            </a:extLst>
          </p:cNvPr>
          <p:cNvSpPr/>
          <p:nvPr/>
        </p:nvSpPr>
        <p:spPr>
          <a:xfrm>
            <a:off x="1792224" y="4059935"/>
            <a:ext cx="1078992" cy="438912"/>
          </a:xfrm>
          <a:prstGeom prst="rect">
            <a:avLst/>
          </a:prstGeom>
          <a:solidFill>
            <a:srgbClr val="BE54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14A8CF-0195-A321-C690-D5C2018CA9B0}"/>
              </a:ext>
            </a:extLst>
          </p:cNvPr>
          <p:cNvSpPr txBox="1"/>
          <p:nvPr/>
        </p:nvSpPr>
        <p:spPr>
          <a:xfrm>
            <a:off x="2010317" y="4207744"/>
            <a:ext cx="642805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M Sans"/>
              </a:rPr>
              <a:t>Muy alta +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FC25D6-C576-104C-44AF-383239B787C4}"/>
              </a:ext>
            </a:extLst>
          </p:cNvPr>
          <p:cNvSpPr/>
          <p:nvPr/>
        </p:nvSpPr>
        <p:spPr>
          <a:xfrm>
            <a:off x="2871215" y="4059935"/>
            <a:ext cx="1078992" cy="438912"/>
          </a:xfrm>
          <a:prstGeom prst="rect">
            <a:avLst/>
          </a:prstGeom>
          <a:solidFill>
            <a:srgbClr val="F8C39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91EAD3-FA2B-617C-105A-88A8122C54C3}"/>
              </a:ext>
            </a:extLst>
          </p:cNvPr>
          <p:cNvSpPr txBox="1"/>
          <p:nvPr/>
        </p:nvSpPr>
        <p:spPr>
          <a:xfrm>
            <a:off x="3163848" y="4207744"/>
            <a:ext cx="493725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Media +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D1F837-6EFD-5008-1FE8-7CD82787F3F5}"/>
              </a:ext>
            </a:extLst>
          </p:cNvPr>
          <p:cNvSpPr/>
          <p:nvPr/>
        </p:nvSpPr>
        <p:spPr>
          <a:xfrm>
            <a:off x="3950208" y="4059935"/>
            <a:ext cx="1078992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F999AE4-17F9-58C5-16DA-DF068036439B}"/>
              </a:ext>
            </a:extLst>
          </p:cNvPr>
          <p:cNvSpPr/>
          <p:nvPr/>
        </p:nvSpPr>
        <p:spPr>
          <a:xfrm>
            <a:off x="5029200" y="4059935"/>
            <a:ext cx="107899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BB33C-685B-9794-A165-2E4CD8A14DA5}"/>
              </a:ext>
            </a:extLst>
          </p:cNvPr>
          <p:cNvSpPr txBox="1"/>
          <p:nvPr/>
        </p:nvSpPr>
        <p:spPr>
          <a:xfrm>
            <a:off x="5357901" y="4207744"/>
            <a:ext cx="421590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Débil -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312E77-F35F-A1C9-E98E-18977FAAD554}"/>
              </a:ext>
            </a:extLst>
          </p:cNvPr>
          <p:cNvSpPr/>
          <p:nvPr/>
        </p:nvSpPr>
        <p:spPr>
          <a:xfrm>
            <a:off x="713232" y="4498848"/>
            <a:ext cx="1078992" cy="438912"/>
          </a:xfrm>
          <a:prstGeom prst="rect">
            <a:avLst/>
          </a:prstGeom>
          <a:solidFill>
            <a:srgbClr val="F7F2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E7B018-7133-4B02-6622-5A4432CB8D37}"/>
              </a:ext>
            </a:extLst>
          </p:cNvPr>
          <p:cNvSpPr txBox="1"/>
          <p:nvPr/>
        </p:nvSpPr>
        <p:spPr>
          <a:xfrm>
            <a:off x="969798" y="4646657"/>
            <a:ext cx="565861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Recency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FDEEC5-6430-C8D3-86B6-2B6AA542FDC9}"/>
              </a:ext>
            </a:extLst>
          </p:cNvPr>
          <p:cNvSpPr/>
          <p:nvPr/>
        </p:nvSpPr>
        <p:spPr>
          <a:xfrm>
            <a:off x="1792224" y="4498848"/>
            <a:ext cx="1078992" cy="438912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2C2876-2A11-D636-F03D-D1C066C83876}"/>
              </a:ext>
            </a:extLst>
          </p:cNvPr>
          <p:cNvSpPr txBox="1"/>
          <p:nvPr/>
        </p:nvSpPr>
        <p:spPr>
          <a:xfrm>
            <a:off x="2060011" y="4646657"/>
            <a:ext cx="543418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Negativa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56AA0D-F56E-B92D-17FA-1720B2E46A67}"/>
              </a:ext>
            </a:extLst>
          </p:cNvPr>
          <p:cNvSpPr/>
          <p:nvPr/>
        </p:nvSpPr>
        <p:spPr>
          <a:xfrm>
            <a:off x="2871215" y="4498848"/>
            <a:ext cx="1078992" cy="438912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E5651D-59E1-9ACC-21B5-AD30788A0A9B}"/>
              </a:ext>
            </a:extLst>
          </p:cNvPr>
          <p:cNvSpPr txBox="1"/>
          <p:nvPr/>
        </p:nvSpPr>
        <p:spPr>
          <a:xfrm>
            <a:off x="3139002" y="4646657"/>
            <a:ext cx="543418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Negativa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F3DCE7D-7093-3FB9-95D5-C4825A0DF0BA}"/>
              </a:ext>
            </a:extLst>
          </p:cNvPr>
          <p:cNvSpPr/>
          <p:nvPr/>
        </p:nvSpPr>
        <p:spPr>
          <a:xfrm>
            <a:off x="3950208" y="4498848"/>
            <a:ext cx="107899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E1EA59-1B45-2989-933A-B200086CC4A1}"/>
              </a:ext>
            </a:extLst>
          </p:cNvPr>
          <p:cNvSpPr txBox="1"/>
          <p:nvPr/>
        </p:nvSpPr>
        <p:spPr>
          <a:xfrm>
            <a:off x="4278909" y="4646657"/>
            <a:ext cx="421590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02020"/>
                </a:solidFill>
                <a:latin typeface="DM Sans"/>
              </a:rPr>
              <a:t>Débil 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6B27D9-81D2-DD79-9F2A-7A5489C374D3}"/>
              </a:ext>
            </a:extLst>
          </p:cNvPr>
          <p:cNvSpPr/>
          <p:nvPr/>
        </p:nvSpPr>
        <p:spPr>
          <a:xfrm>
            <a:off x="5029200" y="4498848"/>
            <a:ext cx="1078992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F87854A-20FA-CDCD-10D2-2FBCBFF3FBEB}"/>
              </a:ext>
            </a:extLst>
          </p:cNvPr>
          <p:cNvSpPr/>
          <p:nvPr/>
        </p:nvSpPr>
        <p:spPr>
          <a:xfrm>
            <a:off x="509703" y="5148072"/>
            <a:ext cx="1355537" cy="521207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200374-B2B4-79F7-27C9-13A61FB7D421}"/>
              </a:ext>
            </a:extLst>
          </p:cNvPr>
          <p:cNvSpPr txBox="1"/>
          <p:nvPr/>
        </p:nvSpPr>
        <p:spPr>
          <a:xfrm>
            <a:off x="901963" y="5230368"/>
            <a:ext cx="6283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873A08"/>
                </a:solidFill>
                <a:latin typeface="DM Sans"/>
              </a:rPr>
              <a:t>Mantener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862AC1-6849-C1E8-232A-32562B21A381}"/>
              </a:ext>
            </a:extLst>
          </p:cNvPr>
          <p:cNvSpPr txBox="1"/>
          <p:nvPr/>
        </p:nvSpPr>
        <p:spPr>
          <a:xfrm>
            <a:off x="509703" y="5413248"/>
            <a:ext cx="139461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5A5A5A"/>
                </a:solidFill>
                <a:latin typeface="DM Sans"/>
              </a:rPr>
              <a:t>RFM y </a:t>
            </a:r>
            <a:r>
              <a:rPr sz="1000" b="0" dirty="0" err="1">
                <a:solidFill>
                  <a:srgbClr val="5A5A5A"/>
                </a:solidFill>
                <a:latin typeface="DM Sans"/>
              </a:rPr>
              <a:t>comportamiento</a:t>
            </a:r>
            <a:endParaRPr sz="1000" b="0" dirty="0">
              <a:solidFill>
                <a:srgbClr val="5A5A5A"/>
              </a:solidFill>
              <a:latin typeface="DM Sa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A780871-8E05-FBBA-39CD-B4F195CAD3B3}"/>
              </a:ext>
            </a:extLst>
          </p:cNvPr>
          <p:cNvSpPr/>
          <p:nvPr/>
        </p:nvSpPr>
        <p:spPr>
          <a:xfrm>
            <a:off x="1971892" y="5148072"/>
            <a:ext cx="1353794" cy="521207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33B16D-6B4E-595A-5DEA-494489130F91}"/>
              </a:ext>
            </a:extLst>
          </p:cNvPr>
          <p:cNvSpPr txBox="1"/>
          <p:nvPr/>
        </p:nvSpPr>
        <p:spPr>
          <a:xfrm>
            <a:off x="2230260" y="5230313"/>
            <a:ext cx="8015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dirty="0" err="1">
                <a:solidFill>
                  <a:srgbClr val="873A08"/>
                </a:solidFill>
                <a:latin typeface="DM Sans"/>
              </a:rPr>
              <a:t>Transformar</a:t>
            </a:r>
            <a:endParaRPr sz="1050" b="1" dirty="0">
              <a:solidFill>
                <a:srgbClr val="873A08"/>
              </a:solidFill>
              <a:latin typeface="DM San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FC0B32-06D1-EC82-43A2-F572A15EDF87}"/>
              </a:ext>
            </a:extLst>
          </p:cNvPr>
          <p:cNvSpPr txBox="1"/>
          <p:nvPr/>
        </p:nvSpPr>
        <p:spPr>
          <a:xfrm>
            <a:off x="2218812" y="5413248"/>
            <a:ext cx="77425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5A5A5A"/>
                </a:solidFill>
                <a:latin typeface="DM Sans"/>
              </a:rPr>
              <a:t>log + z-score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95CAF0D-D2B2-BEA5-963D-9E7D2F215B45}"/>
              </a:ext>
            </a:extLst>
          </p:cNvPr>
          <p:cNvSpPr/>
          <p:nvPr/>
        </p:nvSpPr>
        <p:spPr>
          <a:xfrm>
            <a:off x="3432337" y="5148072"/>
            <a:ext cx="1353795" cy="521207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F7BAB9-A844-4107-5550-AC93B1CBEB66}"/>
              </a:ext>
            </a:extLst>
          </p:cNvPr>
          <p:cNvSpPr txBox="1"/>
          <p:nvPr/>
        </p:nvSpPr>
        <p:spPr>
          <a:xfrm>
            <a:off x="3889622" y="5230313"/>
            <a:ext cx="43922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dirty="0" err="1">
                <a:solidFill>
                  <a:srgbClr val="873A08"/>
                </a:solidFill>
                <a:latin typeface="DM Sans"/>
              </a:rPr>
              <a:t>Excluir</a:t>
            </a:r>
            <a:endParaRPr sz="1050" b="1" dirty="0">
              <a:solidFill>
                <a:srgbClr val="873A08"/>
              </a:solidFill>
              <a:latin typeface="DM San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F46C2C-9A9D-4787-74A0-11BB7AF7F1AC}"/>
              </a:ext>
            </a:extLst>
          </p:cNvPr>
          <p:cNvSpPr txBox="1"/>
          <p:nvPr/>
        </p:nvSpPr>
        <p:spPr>
          <a:xfrm>
            <a:off x="3505837" y="5433095"/>
            <a:ext cx="107882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5A5A5A"/>
                </a:solidFill>
                <a:latin typeface="DM Sans"/>
              </a:rPr>
              <a:t>IDs, </a:t>
            </a:r>
            <a:r>
              <a:rPr sz="1000" b="0" dirty="0" err="1">
                <a:solidFill>
                  <a:srgbClr val="5A5A5A"/>
                </a:solidFill>
                <a:latin typeface="DM Sans"/>
              </a:rPr>
              <a:t>fechas</a:t>
            </a:r>
            <a:r>
              <a:rPr sz="10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000" b="0" dirty="0" err="1">
                <a:solidFill>
                  <a:srgbClr val="5A5A5A"/>
                </a:solidFill>
                <a:latin typeface="DM Sans"/>
              </a:rPr>
              <a:t>crudas</a:t>
            </a:r>
            <a:endParaRPr sz="1000" b="0" dirty="0">
              <a:solidFill>
                <a:srgbClr val="5A5A5A"/>
              </a:solidFill>
              <a:latin typeface="DM Sans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E6A4312-D6CD-79BA-09A5-651CF5070695}"/>
              </a:ext>
            </a:extLst>
          </p:cNvPr>
          <p:cNvSpPr/>
          <p:nvPr/>
        </p:nvSpPr>
        <p:spPr>
          <a:xfrm>
            <a:off x="4891797" y="5148072"/>
            <a:ext cx="1353795" cy="521207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A835F1-1B4A-ED08-5AE9-74D24D183B98}"/>
              </a:ext>
            </a:extLst>
          </p:cNvPr>
          <p:cNvSpPr txBox="1"/>
          <p:nvPr/>
        </p:nvSpPr>
        <p:spPr>
          <a:xfrm>
            <a:off x="5285766" y="5215531"/>
            <a:ext cx="62356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dirty="0" err="1">
                <a:solidFill>
                  <a:srgbClr val="873A08"/>
                </a:solidFill>
                <a:latin typeface="DM Sans"/>
              </a:rPr>
              <a:t>Visualizar</a:t>
            </a:r>
            <a:endParaRPr sz="1050" b="1" dirty="0">
              <a:solidFill>
                <a:srgbClr val="873A08"/>
              </a:solidFill>
              <a:latin typeface="DM San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A3A80A-CCFE-5F05-55ED-3254E60843FF}"/>
              </a:ext>
            </a:extLst>
          </p:cNvPr>
          <p:cNvSpPr txBox="1"/>
          <p:nvPr/>
        </p:nvSpPr>
        <p:spPr>
          <a:xfrm>
            <a:off x="5124231" y="5408675"/>
            <a:ext cx="815929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5A5A5A"/>
                </a:solidFill>
                <a:latin typeface="DM Sans"/>
              </a:rPr>
              <a:t>PCA </a:t>
            </a:r>
            <a:r>
              <a:rPr sz="1000" b="0" dirty="0" err="1">
                <a:solidFill>
                  <a:srgbClr val="5A5A5A"/>
                </a:solidFill>
                <a:latin typeface="DM Sans"/>
              </a:rPr>
              <a:t>en</a:t>
            </a:r>
            <a:r>
              <a:rPr sz="1000" b="0" dirty="0">
                <a:solidFill>
                  <a:srgbClr val="5A5A5A"/>
                </a:solidFill>
                <a:latin typeface="DM Sans"/>
              </a:rPr>
              <a:t> 2 </a:t>
            </a:r>
            <a:r>
              <a:rPr sz="1000" b="0" dirty="0" err="1">
                <a:solidFill>
                  <a:srgbClr val="5A5A5A"/>
                </a:solidFill>
                <a:latin typeface="DM Sans"/>
              </a:rPr>
              <a:t>ejes</a:t>
            </a:r>
            <a:endParaRPr sz="1000" b="0" dirty="0">
              <a:solidFill>
                <a:srgbClr val="5A5A5A"/>
              </a:solidFill>
              <a:latin typeface="DM Sans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B9DD85DD-2A3A-9739-FA11-9E925A0F884E}"/>
              </a:ext>
            </a:extLst>
          </p:cNvPr>
          <p:cNvSpPr/>
          <p:nvPr/>
        </p:nvSpPr>
        <p:spPr>
          <a:xfrm>
            <a:off x="6551668" y="1946196"/>
            <a:ext cx="5074920" cy="1261871"/>
          </a:xfrm>
          <a:prstGeom prst="roundRect">
            <a:avLst/>
          </a:prstGeom>
          <a:solidFill>
            <a:srgbClr val="FAF7F5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2C59866-B624-2C4A-0681-ECED33213333}"/>
              </a:ext>
            </a:extLst>
          </p:cNvPr>
          <p:cNvSpPr/>
          <p:nvPr/>
        </p:nvSpPr>
        <p:spPr>
          <a:xfrm>
            <a:off x="6551668" y="1946196"/>
            <a:ext cx="64008" cy="1261871"/>
          </a:xfrm>
          <a:prstGeom prst="rect">
            <a:avLst/>
          </a:prstGeom>
          <a:solidFill>
            <a:srgbClr val="BF5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24BCD1-0416-3309-FA8E-E6FE7EC09C07}"/>
              </a:ext>
            </a:extLst>
          </p:cNvPr>
          <p:cNvSpPr txBox="1"/>
          <p:nvPr/>
        </p:nvSpPr>
        <p:spPr>
          <a:xfrm>
            <a:off x="6716260" y="2074213"/>
            <a:ext cx="177933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02020"/>
                </a:solidFill>
                <a:latin typeface="Georgia"/>
              </a:rPr>
              <a:t>Outliers y sesgo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62E4A1-A3C6-3A7F-C847-6C31D24C2FF0}"/>
              </a:ext>
            </a:extLst>
          </p:cNvPr>
          <p:cNvSpPr txBox="1"/>
          <p:nvPr/>
        </p:nvSpPr>
        <p:spPr>
          <a:xfrm>
            <a:off x="6716260" y="2454665"/>
            <a:ext cx="4179029" cy="5291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Revenue, quantity y frequency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presentan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cola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larga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.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Los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extremos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no se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eliminan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: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pueden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representar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clientes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VIP.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La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transformación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logarítmica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reduce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su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peso sin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perder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señal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044A2E2-D3C3-7CBD-1B5F-C3289B1C7373}"/>
              </a:ext>
            </a:extLst>
          </p:cNvPr>
          <p:cNvSpPr/>
          <p:nvPr/>
        </p:nvSpPr>
        <p:spPr>
          <a:xfrm>
            <a:off x="6545601" y="3467589"/>
            <a:ext cx="5074920" cy="1261871"/>
          </a:xfrm>
          <a:prstGeom prst="roundRect">
            <a:avLst/>
          </a:prstGeom>
          <a:solidFill>
            <a:srgbClr val="FAF7F5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806D705-261D-871E-FC91-CC46F22E05C6}"/>
              </a:ext>
            </a:extLst>
          </p:cNvPr>
          <p:cNvSpPr/>
          <p:nvPr/>
        </p:nvSpPr>
        <p:spPr>
          <a:xfrm>
            <a:off x="6545601" y="3467589"/>
            <a:ext cx="64008" cy="1261871"/>
          </a:xfrm>
          <a:prstGeom prst="rect">
            <a:avLst/>
          </a:prstGeom>
          <a:solidFill>
            <a:srgbClr val="DB6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BE64E1-3ACA-802B-D5E9-D4A465231CE4}"/>
              </a:ext>
            </a:extLst>
          </p:cNvPr>
          <p:cNvSpPr txBox="1"/>
          <p:nvPr/>
        </p:nvSpPr>
        <p:spPr>
          <a:xfrm>
            <a:off x="6725157" y="3597350"/>
            <a:ext cx="247984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202020"/>
                </a:solidFill>
                <a:latin typeface="Georgia"/>
              </a:rPr>
              <a:t>Selección</a:t>
            </a:r>
            <a:r>
              <a:rPr sz="2000" b="0" dirty="0">
                <a:solidFill>
                  <a:srgbClr val="202020"/>
                </a:solidFill>
                <a:latin typeface="Georgia"/>
              </a:rPr>
              <a:t> de variables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F18E8F-C12C-C6E1-7D96-A67E521768B3}"/>
              </a:ext>
            </a:extLst>
          </p:cNvPr>
          <p:cNvSpPr txBox="1"/>
          <p:nvPr/>
        </p:nvSpPr>
        <p:spPr>
          <a:xfrm>
            <a:off x="6716260" y="3985680"/>
            <a:ext cx="4765728" cy="5291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Se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priorizan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recency, frequency, monetary, tenure y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variedad</a:t>
            </a:r>
            <a:r>
              <a:rPr lang="es-ES" sz="1100" b="0" dirty="0">
                <a:solidFill>
                  <a:srgbClr val="5A5A5A"/>
                </a:solidFill>
                <a:latin typeface="DM Sans"/>
              </a:rPr>
              <a:t>.</a:t>
            </a:r>
            <a:endParaRPr sz="1100" b="0" dirty="0">
              <a:solidFill>
                <a:srgbClr val="5A5A5A"/>
              </a:solidFill>
              <a:latin typeface="DM Sans"/>
            </a:endParaRP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Se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evita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duplicar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variables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crudas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y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transformadas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el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mismo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modelo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.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CustomerID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,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país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y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fechas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originales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se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usan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lang="es-ES" sz="1100" b="0" dirty="0">
                <a:solidFill>
                  <a:srgbClr val="5A5A5A"/>
                </a:solidFill>
                <a:latin typeface="DM Sans"/>
              </a:rPr>
              <a:t>solo 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para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trazabilidad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2F19A4CD-D766-A2EC-5738-432DE1C5E574}"/>
              </a:ext>
            </a:extLst>
          </p:cNvPr>
          <p:cNvSpPr/>
          <p:nvPr/>
        </p:nvSpPr>
        <p:spPr>
          <a:xfrm>
            <a:off x="6545601" y="4991147"/>
            <a:ext cx="5074920" cy="1261870"/>
          </a:xfrm>
          <a:prstGeom prst="roundRect">
            <a:avLst/>
          </a:prstGeom>
          <a:solidFill>
            <a:srgbClr val="FAF7F5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83505F4-4960-ACA0-1071-EF94DA0467E6}"/>
              </a:ext>
            </a:extLst>
          </p:cNvPr>
          <p:cNvSpPr/>
          <p:nvPr/>
        </p:nvSpPr>
        <p:spPr>
          <a:xfrm>
            <a:off x="6545601" y="4991147"/>
            <a:ext cx="64008" cy="1261870"/>
          </a:xfrm>
          <a:prstGeom prst="rect">
            <a:avLst/>
          </a:prstGeom>
          <a:solidFill>
            <a:srgbClr val="8F4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77C91A-A75E-7D87-F262-0BB048513DFB}"/>
              </a:ext>
            </a:extLst>
          </p:cNvPr>
          <p:cNvSpPr txBox="1"/>
          <p:nvPr/>
        </p:nvSpPr>
        <p:spPr>
          <a:xfrm>
            <a:off x="6716260" y="5054510"/>
            <a:ext cx="257121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202020"/>
                </a:solidFill>
                <a:latin typeface="Georgia"/>
              </a:rPr>
              <a:t>Decisión</a:t>
            </a:r>
            <a:r>
              <a:rPr sz="2000" b="0" dirty="0">
                <a:solidFill>
                  <a:srgbClr val="202020"/>
                </a:solidFill>
                <a:latin typeface="Georgia"/>
              </a:rPr>
              <a:t> </a:t>
            </a:r>
            <a:r>
              <a:rPr sz="2000" b="0" dirty="0" err="1">
                <a:solidFill>
                  <a:srgbClr val="202020"/>
                </a:solidFill>
                <a:latin typeface="Georgia"/>
              </a:rPr>
              <a:t>metodológica</a:t>
            </a:r>
            <a:endParaRPr sz="2000" b="0" dirty="0">
              <a:solidFill>
                <a:srgbClr val="202020"/>
              </a:solidFill>
              <a:latin typeface="Georgi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6D6CC7-7B55-E93D-75C5-B5AB3B8CF536}"/>
              </a:ext>
            </a:extLst>
          </p:cNvPr>
          <p:cNvSpPr txBox="1"/>
          <p:nvPr/>
        </p:nvSpPr>
        <p:spPr>
          <a:xfrm>
            <a:off x="6716260" y="5473545"/>
            <a:ext cx="4637488" cy="5291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Clustering: variables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normalizadas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para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que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ninguna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escala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domine.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Churn: variables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históricas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antes del cutoff para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evitar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leakage.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A5A5A"/>
                </a:solidFill>
                <a:latin typeface="DM Sans"/>
              </a:rPr>
              <a:t>• PCA: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reducción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dimensional para </a:t>
            </a:r>
            <a:r>
              <a:rPr sz="1100" b="0" dirty="0" err="1">
                <a:solidFill>
                  <a:srgbClr val="5A5A5A"/>
                </a:solidFill>
                <a:latin typeface="DM Sans"/>
              </a:rPr>
              <a:t>comunicar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lang="es-ES" sz="1100" dirty="0">
                <a:solidFill>
                  <a:srgbClr val="5A5A5A"/>
                </a:solidFill>
                <a:latin typeface="DM Sans"/>
              </a:rPr>
              <a:t>agrupaciones.</a:t>
            </a:r>
            <a:r>
              <a:rPr sz="110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19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6FE5-83E8-3CC6-F1FB-F252C320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4622105" y="2508350"/>
            <a:ext cx="21935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Shape 7"/>
          <p:cNvSpPr/>
          <p:nvPr/>
        </p:nvSpPr>
        <p:spPr>
          <a:xfrm>
            <a:off x="6992937" y="2508350"/>
            <a:ext cx="21935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3" name="Shape 10"/>
          <p:cNvSpPr/>
          <p:nvPr/>
        </p:nvSpPr>
        <p:spPr>
          <a:xfrm>
            <a:off x="9363770" y="2508350"/>
            <a:ext cx="21936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" name="Shape 0"/>
          <p:cNvSpPr/>
          <p:nvPr/>
        </p:nvSpPr>
        <p:spPr>
          <a:xfrm>
            <a:off x="640853" y="542727"/>
            <a:ext cx="1825328" cy="340320"/>
          </a:xfrm>
          <a:prstGeom prst="roundRect">
            <a:avLst>
              <a:gd name="adj" fmla="val 6457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750690" y="597595"/>
            <a:ext cx="2215257" cy="230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CLUSTERING · K-MEANS</a:t>
            </a:r>
            <a:endParaRPr lang="en-US" sz="1133" dirty="0"/>
          </a:p>
        </p:txBody>
      </p:sp>
      <p:sp>
        <p:nvSpPr>
          <p:cNvPr id="4" name="Text 2"/>
          <p:cNvSpPr/>
          <p:nvPr/>
        </p:nvSpPr>
        <p:spPr>
          <a:xfrm>
            <a:off x="640853" y="953988"/>
            <a:ext cx="11163499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Modelo No Supervisado: 6 Segmentos de Clientes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640854" y="1820863"/>
            <a:ext cx="1151989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 con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k=6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distancia euclídea y semilla estática para reproducibilidad. Segmentos interpretables y accionables.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05164" y="2691409"/>
            <a:ext cx="1827411" cy="6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8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VIP High-Value.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4816535" y="3070327"/>
            <a:ext cx="18274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677 clientes. Muy recientes, frecuentes y alto valor.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75996" y="2691410"/>
            <a:ext cx="1827411" cy="378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8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Active repeat.</a:t>
            </a:r>
            <a:endParaRPr lang="en-US" sz="1867" dirty="0"/>
          </a:p>
        </p:txBody>
      </p:sp>
      <p:sp>
        <p:nvSpPr>
          <p:cNvPr id="12" name="Text 9"/>
          <p:cNvSpPr/>
          <p:nvPr/>
        </p:nvSpPr>
        <p:spPr>
          <a:xfrm>
            <a:off x="7175996" y="3070326"/>
            <a:ext cx="18274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1.441 clientes.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activos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valor alto para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negocio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57554" y="2691409"/>
            <a:ext cx="2099844" cy="46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04000"/>
              </a:lnSpc>
            </a:pPr>
            <a:r>
              <a:rPr lang="en-US" sz="18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Dormant Low-Value</a:t>
            </a:r>
            <a:endParaRPr lang="en-US" sz="1867" dirty="0"/>
          </a:p>
        </p:txBody>
      </p:sp>
      <p:sp>
        <p:nvSpPr>
          <p:cNvPr id="15" name="Text 12"/>
          <p:cNvSpPr/>
          <p:nvPr/>
        </p:nvSpPr>
        <p:spPr>
          <a:xfrm>
            <a:off x="9546827" y="3070327"/>
            <a:ext cx="18275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1.394 clientes. Una sola compra, bajo valor.</a:t>
            </a:r>
            <a:endParaRPr lang="en-US" sz="14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C502888E-E9FF-1E52-D1E3-EF3F4C4A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45" y="2508350"/>
            <a:ext cx="4121100" cy="3607945"/>
          </a:xfrm>
          <a:prstGeom prst="rect">
            <a:avLst/>
          </a:prstGeom>
        </p:spPr>
      </p:pic>
      <p:sp>
        <p:nvSpPr>
          <p:cNvPr id="33" name="Shape 4">
            <a:extLst>
              <a:ext uri="{FF2B5EF4-FFF2-40B4-BE49-F238E27FC236}">
                <a16:creationId xmlns:a16="http://schemas.microsoft.com/office/drawing/2014/main" id="{2BE92083-3BBC-0D10-E8D9-03B0B1F175AA}"/>
              </a:ext>
            </a:extLst>
          </p:cNvPr>
          <p:cNvSpPr/>
          <p:nvPr/>
        </p:nvSpPr>
        <p:spPr>
          <a:xfrm>
            <a:off x="4622105" y="4631541"/>
            <a:ext cx="21935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A41D18AC-8A2D-23F1-E1C7-FF1324E4D0BA}"/>
              </a:ext>
            </a:extLst>
          </p:cNvPr>
          <p:cNvSpPr/>
          <p:nvPr/>
        </p:nvSpPr>
        <p:spPr>
          <a:xfrm>
            <a:off x="6992937" y="4631541"/>
            <a:ext cx="21935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B229D21B-CA9D-4160-B5D7-265CE11A806B}"/>
              </a:ext>
            </a:extLst>
          </p:cNvPr>
          <p:cNvSpPr/>
          <p:nvPr/>
        </p:nvSpPr>
        <p:spPr>
          <a:xfrm>
            <a:off x="9363770" y="4631541"/>
            <a:ext cx="2193628" cy="1632247"/>
          </a:xfrm>
          <a:prstGeom prst="roundRect">
            <a:avLst>
              <a:gd name="adj" fmla="val 13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78EB8978-3449-A66E-1F55-E8015B443865}"/>
              </a:ext>
            </a:extLst>
          </p:cNvPr>
          <p:cNvSpPr/>
          <p:nvPr/>
        </p:nvSpPr>
        <p:spPr>
          <a:xfrm>
            <a:off x="4805164" y="4814599"/>
            <a:ext cx="1827411" cy="6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8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High-Value.</a:t>
            </a:r>
            <a:endParaRPr lang="en-US" sz="1867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FD573A1E-E178-48DA-1F5A-2C3A611B80F7}"/>
              </a:ext>
            </a:extLst>
          </p:cNvPr>
          <p:cNvSpPr/>
          <p:nvPr/>
        </p:nvSpPr>
        <p:spPr>
          <a:xfrm>
            <a:off x="4816535" y="5193518"/>
            <a:ext cx="18274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435 clientes. Poco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frecuentes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alto valor.</a:t>
            </a:r>
            <a:endParaRPr lang="en-US" sz="14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D0F907A4-0440-D665-5371-FFF79BE90776}"/>
              </a:ext>
            </a:extLst>
          </p:cNvPr>
          <p:cNvSpPr/>
          <p:nvPr/>
        </p:nvSpPr>
        <p:spPr>
          <a:xfrm>
            <a:off x="7175996" y="4814600"/>
            <a:ext cx="1827411" cy="378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867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Low-Value.</a:t>
            </a:r>
            <a:endParaRPr lang="en-US" sz="1867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584181B-9653-4287-A3E7-693AA18AD6C9}"/>
              </a:ext>
            </a:extLst>
          </p:cNvPr>
          <p:cNvSpPr/>
          <p:nvPr/>
        </p:nvSpPr>
        <p:spPr>
          <a:xfrm>
            <a:off x="7175996" y="5193517"/>
            <a:ext cx="18274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417 clientes. Inactivos, valor medio-bajo.</a:t>
            </a:r>
            <a:endParaRPr lang="en-US" sz="14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1F54DC8B-F5B5-28E8-D0AB-5B44904F631C}"/>
              </a:ext>
            </a:extLst>
          </p:cNvPr>
          <p:cNvSpPr/>
          <p:nvPr/>
        </p:nvSpPr>
        <p:spPr>
          <a:xfrm>
            <a:off x="9457553" y="4814599"/>
            <a:ext cx="2193528" cy="49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733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Inactives</a:t>
            </a:r>
            <a:r>
              <a:rPr lang="en-US" sz="173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Mid-Value</a:t>
            </a:r>
            <a:endParaRPr lang="en-US" sz="1733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85A7486-56CD-838E-1CC9-F4B89B0BAE60}"/>
              </a:ext>
            </a:extLst>
          </p:cNvPr>
          <p:cNvSpPr/>
          <p:nvPr/>
        </p:nvSpPr>
        <p:spPr>
          <a:xfrm>
            <a:off x="9546827" y="5193518"/>
            <a:ext cx="18275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1.514 clientes.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valor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29642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0B2EF406-7882-6867-BEFA-00C60DE97F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4"/>
          <a:stretch>
            <a:fillRect/>
          </a:stretch>
        </p:blipFill>
        <p:spPr>
          <a:xfrm>
            <a:off x="750690" y="1987372"/>
            <a:ext cx="9500573" cy="491224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70BC29E-EC62-6E6B-52B4-443238DC9CD7}"/>
              </a:ext>
            </a:extLst>
          </p:cNvPr>
          <p:cNvSpPr/>
          <p:nvPr/>
        </p:nvSpPr>
        <p:spPr>
          <a:xfrm>
            <a:off x="640853" y="542727"/>
            <a:ext cx="1825328" cy="340320"/>
          </a:xfrm>
          <a:prstGeom prst="roundRect">
            <a:avLst>
              <a:gd name="adj" fmla="val 6457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863DF6-DED6-5D39-5E57-8166BCE54177}"/>
              </a:ext>
            </a:extLst>
          </p:cNvPr>
          <p:cNvSpPr/>
          <p:nvPr/>
        </p:nvSpPr>
        <p:spPr>
          <a:xfrm>
            <a:off x="750690" y="597595"/>
            <a:ext cx="2215257" cy="230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1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CLUSTERING · K-MEANS</a:t>
            </a:r>
            <a:endParaRPr lang="en-US" sz="11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362BCD-2E62-CC55-94E8-6936C61C9825}"/>
              </a:ext>
            </a:extLst>
          </p:cNvPr>
          <p:cNvSpPr/>
          <p:nvPr/>
        </p:nvSpPr>
        <p:spPr>
          <a:xfrm>
            <a:off x="640853" y="953988"/>
            <a:ext cx="11163499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Modelo No Supervisado: PCA y </a:t>
            </a:r>
            <a:r>
              <a:rPr lang="en-US" sz="3733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visualización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49BEE6-BD98-1859-A619-290C272675DF}"/>
              </a:ext>
            </a:extLst>
          </p:cNvPr>
          <p:cNvSpPr/>
          <p:nvPr/>
        </p:nvSpPr>
        <p:spPr>
          <a:xfrm>
            <a:off x="640854" y="1698943"/>
            <a:ext cx="1151989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PCA reduce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espacio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multidimensional a dos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ejes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visuales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comunicar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segmentos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605DD3B-0576-8358-A81D-A58D7A5A5D9A}"/>
              </a:ext>
            </a:extLst>
          </p:cNvPr>
          <p:cNvSpPr/>
          <p:nvPr/>
        </p:nvSpPr>
        <p:spPr>
          <a:xfrm>
            <a:off x="2291258" y="4870630"/>
            <a:ext cx="2426108" cy="64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Gradiente</a:t>
            </a:r>
            <a:r>
              <a:rPr lang="en-US" sz="12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de valor </a:t>
            </a:r>
            <a:r>
              <a:rPr lang="en-US" sz="12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económico</a:t>
            </a:r>
            <a:r>
              <a:rPr lang="en-US" sz="12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>
              <a:lnSpc>
                <a:spcPct val="127000"/>
              </a:lnSpc>
            </a:pPr>
            <a:r>
              <a:rPr lang="en-US" sz="12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Patrón</a:t>
            </a:r>
            <a:r>
              <a:rPr lang="en-US" sz="12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de actividad, relación y </a:t>
            </a:r>
            <a:r>
              <a:rPr lang="en-US" sz="12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retención</a:t>
            </a:r>
            <a:r>
              <a:rPr lang="en-US" sz="12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92B9BE-CFE2-A80C-055C-14B93449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851" y="2510508"/>
            <a:ext cx="3050824" cy="183698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878A7ED-5D4D-C69F-C9B9-A957BEB18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339" b="13127"/>
          <a:stretch>
            <a:fillRect/>
          </a:stretch>
        </p:blipFill>
        <p:spPr>
          <a:xfrm>
            <a:off x="7182916" y="4749093"/>
            <a:ext cx="4823607" cy="154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A918-DBB0-017C-2591-53B4A0ED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6">
            <a:extLst>
              <a:ext uri="{FF2B5EF4-FFF2-40B4-BE49-F238E27FC236}">
                <a16:creationId xmlns:a16="http://schemas.microsoft.com/office/drawing/2014/main" id="{BE9E6DE6-1AD1-1851-BB41-20D1E08E24C3}"/>
              </a:ext>
            </a:extLst>
          </p:cNvPr>
          <p:cNvSpPr/>
          <p:nvPr/>
        </p:nvSpPr>
        <p:spPr>
          <a:xfrm>
            <a:off x="4320779" y="4348659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 dirty="0"/>
          </a:p>
        </p:txBody>
      </p:sp>
      <p:sp>
        <p:nvSpPr>
          <p:cNvPr id="2" name="Text 0"/>
          <p:cNvSpPr/>
          <p:nvPr/>
        </p:nvSpPr>
        <p:spPr>
          <a:xfrm>
            <a:off x="609800" y="594519"/>
            <a:ext cx="9563993" cy="57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Interpretación de Negocio de los Segmentos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799" y="1487488"/>
            <a:ext cx="11582003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segmento requiere una estrategia diferenciada. Las acciones recomendadas maximizan el retorno sobre la inversión en marketing.</a:t>
            </a:r>
            <a:endParaRPr lang="en-US" sz="1333" dirty="0"/>
          </a:p>
        </p:txBody>
      </p:sp>
      <p:sp>
        <p:nvSpPr>
          <p:cNvPr id="4" name="Shape 2"/>
          <p:cNvSpPr/>
          <p:nvPr/>
        </p:nvSpPr>
        <p:spPr>
          <a:xfrm>
            <a:off x="609799" y="1935957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784027" y="2110185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795" y="2253854"/>
            <a:ext cx="235148" cy="2351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4027" y="2793505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VIP High-Valuable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4027" y="3175695"/>
            <a:ext cx="3201888" cy="80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Programa premium, acceso anticipado y atención prioritaria. Evitar descuentos innecesarios.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320779" y="1935957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Shape 7"/>
          <p:cNvSpPr/>
          <p:nvPr/>
        </p:nvSpPr>
        <p:spPr>
          <a:xfrm>
            <a:off x="4495007" y="2110185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775" y="2253854"/>
            <a:ext cx="235148" cy="2351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5007" y="2793505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Active Repeat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495007" y="3175695"/>
            <a:ext cx="3201888" cy="80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Cross-selling, upselling y puntos de fidelización con recomendaciones personalizadas.</a:t>
            </a:r>
            <a:endParaRPr lang="en-US" sz="1333" dirty="0"/>
          </a:p>
        </p:txBody>
      </p:sp>
      <p:sp>
        <p:nvSpPr>
          <p:cNvPr id="14" name="Shape 10"/>
          <p:cNvSpPr/>
          <p:nvPr/>
        </p:nvSpPr>
        <p:spPr>
          <a:xfrm>
            <a:off x="596207" y="4308202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5" name="Shape 11"/>
          <p:cNvSpPr/>
          <p:nvPr/>
        </p:nvSpPr>
        <p:spPr>
          <a:xfrm>
            <a:off x="770435" y="4482430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203" y="4626099"/>
            <a:ext cx="235148" cy="2351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0435" y="5165750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At-Risk High-Valuable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70435" y="5547941"/>
            <a:ext cx="320188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Win-back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prioritario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campañas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prioritarias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agresiva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33" dirty="0"/>
          </a:p>
        </p:txBody>
      </p:sp>
      <p:sp>
        <p:nvSpPr>
          <p:cNvPr id="25" name="Shape 19"/>
          <p:cNvSpPr/>
          <p:nvPr/>
        </p:nvSpPr>
        <p:spPr>
          <a:xfrm>
            <a:off x="4495007" y="4488161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pPr algn="ctr"/>
            <a:r>
              <a:rPr lang="es-ES" sz="2133" b="1" dirty="0">
                <a:solidFill>
                  <a:schemeClr val="bg1"/>
                </a:solidFill>
                <a:latin typeface="DM Sans" pitchFamily="2" charset="0"/>
              </a:rPr>
              <a:t>!</a:t>
            </a:r>
          </a:p>
        </p:txBody>
      </p:sp>
      <p:sp>
        <p:nvSpPr>
          <p:cNvPr id="27" name="Text 20"/>
          <p:cNvSpPr/>
          <p:nvPr/>
        </p:nvSpPr>
        <p:spPr>
          <a:xfrm>
            <a:off x="4495007" y="5171481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 risk Low-Valuable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495007" y="5553672"/>
            <a:ext cx="3201888" cy="87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Remarketing barato y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automatización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básica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nula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No dedicar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presupuesto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alto, abandoner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gastos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ese </a:t>
            </a:r>
            <a:r>
              <a:rPr lang="en-US" sz="1333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nicho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33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9DCE5708-1E04-D64E-018A-AEC1FAA87F83}"/>
              </a:ext>
            </a:extLst>
          </p:cNvPr>
          <p:cNvSpPr/>
          <p:nvPr/>
        </p:nvSpPr>
        <p:spPr>
          <a:xfrm>
            <a:off x="8045351" y="4327525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4B9755BE-2720-02EA-18DF-EAD99D997D2E}"/>
              </a:ext>
            </a:extLst>
          </p:cNvPr>
          <p:cNvSpPr/>
          <p:nvPr/>
        </p:nvSpPr>
        <p:spPr>
          <a:xfrm>
            <a:off x="8219579" y="4467026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7B80755-65BB-A5DF-163D-01ABD4FAB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3347" y="4610695"/>
            <a:ext cx="235148" cy="235148"/>
          </a:xfrm>
          <a:prstGeom prst="rect">
            <a:avLst/>
          </a:prstGeom>
        </p:spPr>
      </p:pic>
      <p:sp>
        <p:nvSpPr>
          <p:cNvPr id="40" name="Text 16">
            <a:extLst>
              <a:ext uri="{FF2B5EF4-FFF2-40B4-BE49-F238E27FC236}">
                <a16:creationId xmlns:a16="http://schemas.microsoft.com/office/drawing/2014/main" id="{1ACE7E99-1F55-CA96-FCB2-FB486B5CFABA}"/>
              </a:ext>
            </a:extLst>
          </p:cNvPr>
          <p:cNvSpPr/>
          <p:nvPr/>
        </p:nvSpPr>
        <p:spPr>
          <a:xfrm>
            <a:off x="8219579" y="5150346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Inactive Mid-Valuable</a:t>
            </a:r>
            <a:endParaRPr lang="en-US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150D82A9-0735-44C0-2606-36381974A7C5}"/>
              </a:ext>
            </a:extLst>
          </p:cNvPr>
          <p:cNvSpPr/>
          <p:nvPr/>
        </p:nvSpPr>
        <p:spPr>
          <a:xfrm>
            <a:off x="8219579" y="5532536"/>
            <a:ext cx="3201888" cy="72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Win-back de bajo coste y email marketing automatizado con descuentos moderados.</a:t>
            </a:r>
            <a:endParaRPr lang="en-US" sz="1333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523AE8E-440F-4405-58A7-E3F63BAB2884}"/>
              </a:ext>
            </a:extLst>
          </p:cNvPr>
          <p:cNvSpPr/>
          <p:nvPr/>
        </p:nvSpPr>
        <p:spPr>
          <a:xfrm>
            <a:off x="8045351" y="1932733"/>
            <a:ext cx="3550344" cy="2217340"/>
          </a:xfrm>
          <a:prstGeom prst="roundRect">
            <a:avLst>
              <a:gd name="adj" fmla="val 117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3" name="Shape 15"/>
          <p:cNvSpPr/>
          <p:nvPr/>
        </p:nvSpPr>
        <p:spPr>
          <a:xfrm>
            <a:off x="8219579" y="2072234"/>
            <a:ext cx="522684" cy="522684"/>
          </a:xfrm>
          <a:prstGeom prst="roundRect">
            <a:avLst>
              <a:gd name="adj" fmla="val 14577140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5" name="Text 16"/>
          <p:cNvSpPr/>
          <p:nvPr/>
        </p:nvSpPr>
        <p:spPr>
          <a:xfrm>
            <a:off x="8219579" y="2755554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Dormant Low-Valuable</a:t>
            </a:r>
            <a:endParaRPr lang="en-US" dirty="0"/>
          </a:p>
        </p:txBody>
      </p:sp>
      <p:sp>
        <p:nvSpPr>
          <p:cNvPr id="46" name="Text 17"/>
          <p:cNvSpPr/>
          <p:nvPr/>
        </p:nvSpPr>
        <p:spPr>
          <a:xfrm>
            <a:off x="8219579" y="3137744"/>
            <a:ext cx="3201888" cy="8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s-ES" sz="1333" dirty="0">
                <a:solidFill>
                  <a:srgbClr val="383838"/>
                </a:solidFill>
                <a:latin typeface="DM Sans" pitchFamily="34" charset="0"/>
              </a:rPr>
              <a:t>Reactivación barata, poco presupuesto, medidas básicas o nulas.</a:t>
            </a:r>
            <a:endParaRPr lang="en-US" sz="1333" dirty="0">
              <a:solidFill>
                <a:srgbClr val="383838"/>
              </a:solidFill>
              <a:latin typeface="DM Sans" pitchFamily="34" charset="0"/>
            </a:endParaRP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D88F5D12-D220-579F-B4F2-F59F325F6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763" y="2233974"/>
            <a:ext cx="235732" cy="2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0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5EF375-FFB3-F895-898F-965EC3898D20}"/>
              </a:ext>
            </a:extLst>
          </p:cNvPr>
          <p:cNvSpPr/>
          <p:nvPr/>
        </p:nvSpPr>
        <p:spPr>
          <a:xfrm>
            <a:off x="589161" y="625576"/>
            <a:ext cx="1877616" cy="304601"/>
          </a:xfrm>
          <a:prstGeom prst="roundRect">
            <a:avLst>
              <a:gd name="adj" fmla="val 6632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99C1BA-21A4-125C-C20D-A312D351857B}"/>
              </a:ext>
            </a:extLst>
          </p:cNvPr>
          <p:cNvSpPr/>
          <p:nvPr/>
        </p:nvSpPr>
        <p:spPr>
          <a:xfrm>
            <a:off x="690166" y="676076"/>
            <a:ext cx="2285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6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PREDICCIÓN SUPERVISADA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69B9B4-7341-BEF9-BBBF-ADC3F9DC1B25}"/>
              </a:ext>
            </a:extLst>
          </p:cNvPr>
          <p:cNvSpPr/>
          <p:nvPr/>
        </p:nvSpPr>
        <p:spPr>
          <a:xfrm>
            <a:off x="589161" y="990105"/>
            <a:ext cx="10363319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Tarea </a:t>
            </a:r>
            <a:r>
              <a:rPr lang="en-US" sz="3467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supervisada</a:t>
            </a:r>
            <a:r>
              <a:rPr lang="en-US" sz="34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, </a:t>
            </a:r>
            <a:r>
              <a:rPr lang="en-US" sz="3467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definición</a:t>
            </a:r>
            <a:r>
              <a:rPr lang="en-US" sz="34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del Churn</a:t>
            </a:r>
            <a:endParaRPr lang="en-US" sz="3467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13396E6-4659-2A34-268C-AB54AA2201E0}"/>
              </a:ext>
            </a:extLst>
          </p:cNvPr>
          <p:cNvSpPr/>
          <p:nvPr/>
        </p:nvSpPr>
        <p:spPr>
          <a:xfrm>
            <a:off x="1474638" y="2819851"/>
            <a:ext cx="9477841" cy="0"/>
          </a:xfrm>
          <a:prstGeom prst="line">
            <a:avLst/>
          </a:prstGeom>
          <a:noFill/>
          <a:ln w="25400">
            <a:solidFill>
              <a:srgbClr val="AFC2D6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7F57806-9B04-9716-4AC9-0EFF791D7E85}"/>
              </a:ext>
            </a:extLst>
          </p:cNvPr>
          <p:cNvSpPr/>
          <p:nvPr/>
        </p:nvSpPr>
        <p:spPr>
          <a:xfrm>
            <a:off x="5911089" y="2531904"/>
            <a:ext cx="369823" cy="575893"/>
          </a:xfrm>
          <a:prstGeom prst="chevron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7B838E2-2C11-90F9-AF97-91F8D8C2C507}"/>
              </a:ext>
            </a:extLst>
          </p:cNvPr>
          <p:cNvSpPr/>
          <p:nvPr/>
        </p:nvSpPr>
        <p:spPr>
          <a:xfrm>
            <a:off x="5422115" y="2278598"/>
            <a:ext cx="1347767" cy="23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28C28"/>
                </a:solidFill>
              </a:rPr>
              <a:t>2011-09-10</a:t>
            </a:r>
            <a:endParaRPr lang="en-US" sz="1467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9FA5673-AA37-C19F-01BE-DB7190360534}"/>
              </a:ext>
            </a:extLst>
          </p:cNvPr>
          <p:cNvSpPr/>
          <p:nvPr/>
        </p:nvSpPr>
        <p:spPr>
          <a:xfrm>
            <a:off x="931984" y="3195771"/>
            <a:ext cx="4086776" cy="314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2F67B1"/>
                </a:solidFill>
              </a:rPr>
              <a:t>Histórico: variables predictoras</a:t>
            </a:r>
            <a:endParaRPr lang="en-US" sz="2133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F377154-1B13-02A1-EC4C-1417025391B1}"/>
              </a:ext>
            </a:extLst>
          </p:cNvPr>
          <p:cNvSpPr/>
          <p:nvPr/>
        </p:nvSpPr>
        <p:spPr>
          <a:xfrm>
            <a:off x="7404487" y="3195771"/>
            <a:ext cx="4086776" cy="314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64545"/>
                </a:solidFill>
              </a:rPr>
              <a:t>Futuro: etiqueta churn/returned</a:t>
            </a:r>
            <a:endParaRPr lang="en-US" sz="2133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2A4E8C15-8D6F-3904-EB70-308330AAC7C7}"/>
              </a:ext>
            </a:extLst>
          </p:cNvPr>
          <p:cNvGrpSpPr/>
          <p:nvPr/>
        </p:nvGrpSpPr>
        <p:grpSpPr>
          <a:xfrm>
            <a:off x="690165" y="4070113"/>
            <a:ext cx="2086864" cy="890016"/>
            <a:chOff x="4362" y="3036908"/>
            <a:chExt cx="1565148" cy="667512"/>
          </a:xfrm>
        </p:grpSpPr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9E52B8EE-7BA4-818E-EB4C-B5B884D9DCA3}"/>
                </a:ext>
              </a:extLst>
            </p:cNvPr>
            <p:cNvSpPr/>
            <p:nvPr/>
          </p:nvSpPr>
          <p:spPr>
            <a:xfrm>
              <a:off x="4362" y="3036908"/>
              <a:ext cx="1565148" cy="667512"/>
            </a:xfrm>
            <a:prstGeom prst="roundRect">
              <a:avLst>
                <a:gd name="adj" fmla="val 9412"/>
              </a:avLst>
            </a:prstGeom>
            <a:solidFill>
              <a:srgbClr val="F7F9FB"/>
            </a:solidFill>
            <a:ln w="12700">
              <a:solidFill>
                <a:srgbClr val="DDE6F2"/>
              </a:solidFill>
              <a:prstDash val="solid"/>
            </a:ln>
          </p:spPr>
          <p:txBody>
            <a:bodyPr/>
            <a:lstStyle/>
            <a:p>
              <a:endParaRPr lang="es-ES" sz="240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4D6382BC-DA3C-BFC9-1AF6-851DD1478FDF}"/>
                </a:ext>
              </a:extLst>
            </p:cNvPr>
            <p:cNvSpPr/>
            <p:nvPr/>
          </p:nvSpPr>
          <p:spPr>
            <a:xfrm>
              <a:off x="55048" y="3137492"/>
              <a:ext cx="139559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067" b="1" dirty="0">
                  <a:solidFill>
                    <a:srgbClr val="2F67B1"/>
                  </a:solidFill>
                </a:rPr>
                <a:t>620.572</a:t>
              </a:r>
              <a:endParaRPr lang="en-US" sz="3067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049D06F3-2F67-08E5-31CF-361EB3F73E63}"/>
                </a:ext>
              </a:extLst>
            </p:cNvPr>
            <p:cNvSpPr/>
            <p:nvPr/>
          </p:nvSpPr>
          <p:spPr>
            <a:xfrm>
              <a:off x="51148" y="3503252"/>
              <a:ext cx="1408633" cy="172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60" b="1" dirty="0">
                  <a:solidFill>
                    <a:srgbClr val="656F7B"/>
                  </a:solidFill>
                </a:rPr>
                <a:t>filas históricas</a:t>
              </a:r>
              <a:endParaRPr lang="en-US" sz="116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0245F40-AB57-716D-FC1F-140DA9A78773}"/>
              </a:ext>
            </a:extLst>
          </p:cNvPr>
          <p:cNvGrpSpPr/>
          <p:nvPr/>
        </p:nvGrpSpPr>
        <p:grpSpPr>
          <a:xfrm>
            <a:off x="3605525" y="4070113"/>
            <a:ext cx="2086864" cy="890016"/>
            <a:chOff x="2473242" y="3036908"/>
            <a:chExt cx="1565148" cy="667512"/>
          </a:xfrm>
        </p:grpSpPr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9999FBC9-9CB3-8115-2C9F-06CC802F2162}"/>
                </a:ext>
              </a:extLst>
            </p:cNvPr>
            <p:cNvSpPr/>
            <p:nvPr/>
          </p:nvSpPr>
          <p:spPr>
            <a:xfrm>
              <a:off x="2473242" y="3036908"/>
              <a:ext cx="1565148" cy="667512"/>
            </a:xfrm>
            <a:prstGeom prst="roundRect">
              <a:avLst>
                <a:gd name="adj" fmla="val 9412"/>
              </a:avLst>
            </a:prstGeom>
            <a:solidFill>
              <a:srgbClr val="F7F9FB"/>
            </a:solidFill>
            <a:ln w="12700">
              <a:solidFill>
                <a:srgbClr val="DDE6F2"/>
              </a:solidFill>
              <a:prstDash val="solid"/>
            </a:ln>
          </p:spPr>
          <p:txBody>
            <a:bodyPr/>
            <a:lstStyle/>
            <a:p>
              <a:endParaRPr lang="es-ES" sz="2400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8A9D7558-264F-09EB-C707-BF91F1EBD407}"/>
                </a:ext>
              </a:extLst>
            </p:cNvPr>
            <p:cNvSpPr/>
            <p:nvPr/>
          </p:nvSpPr>
          <p:spPr>
            <a:xfrm>
              <a:off x="2523928" y="3137492"/>
              <a:ext cx="139559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067" b="1" dirty="0">
                  <a:solidFill>
                    <a:srgbClr val="D64545"/>
                  </a:solidFill>
                </a:rPr>
                <a:t>158.853</a:t>
              </a:r>
              <a:endParaRPr lang="en-US" sz="3067" dirty="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B3FBE90-797D-77B3-B9A0-DBAB14FBF5FF}"/>
                </a:ext>
              </a:extLst>
            </p:cNvPr>
            <p:cNvSpPr/>
            <p:nvPr/>
          </p:nvSpPr>
          <p:spPr>
            <a:xfrm>
              <a:off x="2520028" y="3503252"/>
              <a:ext cx="1408633" cy="172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60" b="1" dirty="0">
                  <a:solidFill>
                    <a:srgbClr val="656F7B"/>
                  </a:solidFill>
                </a:rPr>
                <a:t>filas futuras</a:t>
              </a:r>
              <a:endParaRPr lang="en-US" sz="1160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565E984-003E-1971-F3A4-DEF6D943633E}"/>
              </a:ext>
            </a:extLst>
          </p:cNvPr>
          <p:cNvGrpSpPr/>
          <p:nvPr/>
        </p:nvGrpSpPr>
        <p:grpSpPr>
          <a:xfrm>
            <a:off x="6526700" y="4070113"/>
            <a:ext cx="2086864" cy="890016"/>
            <a:chOff x="4942122" y="3036908"/>
            <a:chExt cx="1565148" cy="667512"/>
          </a:xfrm>
        </p:grpSpPr>
        <p:sp>
          <p:nvSpPr>
            <p:cNvPr id="22" name="Shape 17">
              <a:extLst>
                <a:ext uri="{FF2B5EF4-FFF2-40B4-BE49-F238E27FC236}">
                  <a16:creationId xmlns:a16="http://schemas.microsoft.com/office/drawing/2014/main" id="{090864A2-3BC9-8955-CE34-46917AB6B22D}"/>
                </a:ext>
              </a:extLst>
            </p:cNvPr>
            <p:cNvSpPr/>
            <p:nvPr/>
          </p:nvSpPr>
          <p:spPr>
            <a:xfrm>
              <a:off x="4942122" y="3036908"/>
              <a:ext cx="1565148" cy="667512"/>
            </a:xfrm>
            <a:prstGeom prst="roundRect">
              <a:avLst>
                <a:gd name="adj" fmla="val 9412"/>
              </a:avLst>
            </a:prstGeom>
            <a:solidFill>
              <a:srgbClr val="F7F9FB"/>
            </a:solidFill>
            <a:ln w="12700">
              <a:solidFill>
                <a:srgbClr val="DDE6F2"/>
              </a:solidFill>
              <a:prstDash val="solid"/>
            </a:ln>
          </p:spPr>
          <p:txBody>
            <a:bodyPr/>
            <a:lstStyle/>
            <a:p>
              <a:endParaRPr lang="es-ES" sz="2400"/>
            </a:p>
          </p:txBody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36C8FC03-2954-4936-EE90-4D5593150B92}"/>
                </a:ext>
              </a:extLst>
            </p:cNvPr>
            <p:cNvSpPr/>
            <p:nvPr/>
          </p:nvSpPr>
          <p:spPr>
            <a:xfrm>
              <a:off x="4992808" y="3137492"/>
              <a:ext cx="139559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067" b="1" dirty="0">
                  <a:solidFill>
                    <a:srgbClr val="1D9A8A"/>
                  </a:solidFill>
                </a:rPr>
                <a:t>5.281</a:t>
              </a:r>
              <a:endParaRPr lang="en-US" sz="3067" dirty="0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A4955FD4-D7E1-D164-8B71-6807A9C23D41}"/>
                </a:ext>
              </a:extLst>
            </p:cNvPr>
            <p:cNvSpPr/>
            <p:nvPr/>
          </p:nvSpPr>
          <p:spPr>
            <a:xfrm>
              <a:off x="4988908" y="3503252"/>
              <a:ext cx="1408633" cy="172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60" b="1" dirty="0">
                  <a:solidFill>
                    <a:srgbClr val="656F7B"/>
                  </a:solidFill>
                </a:rPr>
                <a:t>clientes históricos</a:t>
              </a:r>
              <a:endParaRPr lang="en-US" sz="116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8B05E53-1441-4C77-3A96-C2F3A8E7B314}"/>
              </a:ext>
            </a:extLst>
          </p:cNvPr>
          <p:cNvGrpSpPr/>
          <p:nvPr/>
        </p:nvGrpSpPr>
        <p:grpSpPr>
          <a:xfrm>
            <a:off x="9447875" y="4115224"/>
            <a:ext cx="2086864" cy="890016"/>
            <a:chOff x="7411002" y="3036908"/>
            <a:chExt cx="1565148" cy="667512"/>
          </a:xfrm>
        </p:grpSpPr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C3F0AD0F-2354-8A23-CCD7-CF216FB56E67}"/>
                </a:ext>
              </a:extLst>
            </p:cNvPr>
            <p:cNvSpPr/>
            <p:nvPr/>
          </p:nvSpPr>
          <p:spPr>
            <a:xfrm>
              <a:off x="7411002" y="3036908"/>
              <a:ext cx="1565148" cy="667512"/>
            </a:xfrm>
            <a:prstGeom prst="roundRect">
              <a:avLst>
                <a:gd name="adj" fmla="val 9412"/>
              </a:avLst>
            </a:prstGeom>
            <a:solidFill>
              <a:srgbClr val="F7F9FB"/>
            </a:solidFill>
            <a:ln w="12700">
              <a:solidFill>
                <a:srgbClr val="DDE6F2"/>
              </a:solidFill>
              <a:prstDash val="solid"/>
            </a:ln>
          </p:spPr>
          <p:txBody>
            <a:bodyPr/>
            <a:lstStyle/>
            <a:p>
              <a:endParaRPr lang="es-ES" sz="2400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37D42635-D0B9-2C73-92E5-87C485EF82A3}"/>
                </a:ext>
              </a:extLst>
            </p:cNvPr>
            <p:cNvSpPr/>
            <p:nvPr/>
          </p:nvSpPr>
          <p:spPr>
            <a:xfrm>
              <a:off x="7461688" y="3137492"/>
              <a:ext cx="139559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067" b="1" dirty="0">
                  <a:solidFill>
                    <a:srgbClr val="F28C28"/>
                  </a:solidFill>
                </a:rPr>
                <a:t>90 días</a:t>
              </a:r>
              <a:endParaRPr lang="en-US" sz="3067" dirty="0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C9FC536C-0197-3289-7836-77BBE5B1D832}"/>
                </a:ext>
              </a:extLst>
            </p:cNvPr>
            <p:cNvSpPr/>
            <p:nvPr/>
          </p:nvSpPr>
          <p:spPr>
            <a:xfrm>
              <a:off x="7457788" y="3503252"/>
              <a:ext cx="1408633" cy="172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60" b="1" dirty="0">
                  <a:solidFill>
                    <a:srgbClr val="656F7B"/>
                  </a:solidFill>
                </a:rPr>
                <a:t>ventana futura</a:t>
              </a:r>
              <a:endParaRPr lang="en-US" sz="116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717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0D96-8235-0EF2-034E-AFB30061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161" y="625576"/>
            <a:ext cx="1877616" cy="304601"/>
          </a:xfrm>
          <a:prstGeom prst="roundRect">
            <a:avLst>
              <a:gd name="adj" fmla="val 6632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690166" y="676076"/>
            <a:ext cx="2285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6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PREDICCIÓN SUPERVISADA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9161" y="990105"/>
            <a:ext cx="6488112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Modelo de Churn y Validación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9162" y="1767284"/>
            <a:ext cx="1160283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6000"/>
              </a:lnSpc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Cutoff: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2011-09-10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Ventana futura de 90 días.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5.281 clientes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históricos, </a:t>
            </a: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620.572 filas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entrenamiento.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61" y="2478534"/>
            <a:ext cx="5301456" cy="296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7734" y="2340471"/>
            <a:ext cx="2819103" cy="27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Etiqueta de Churn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6307733" y="2766516"/>
            <a:ext cx="5301456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457189" indent="-457189">
              <a:lnSpc>
                <a:spcPct val="12600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churn_risk = 0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(Returned): 2.292 clientes — volvieron a comprar.</a:t>
            </a:r>
            <a:endParaRPr lang="en-US" sz="1400" dirty="0"/>
          </a:p>
          <a:p>
            <a:pPr marL="457189" indent="-457189">
              <a:lnSpc>
                <a:spcPct val="12600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churn_risk = 1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(Churn): 2.989 clientes — no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volvieron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1384" y="4327327"/>
            <a:ext cx="3036689" cy="27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Comparativa de Modelos</a:t>
            </a:r>
            <a:endParaRPr lang="en-US" sz="2133" dirty="0"/>
          </a:p>
        </p:txBody>
      </p:sp>
      <p:sp>
        <p:nvSpPr>
          <p:cNvPr id="10" name="Text 7"/>
          <p:cNvSpPr/>
          <p:nvPr/>
        </p:nvSpPr>
        <p:spPr>
          <a:xfrm>
            <a:off x="6301383" y="4753372"/>
            <a:ext cx="5301456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457189" indent="-457189">
              <a:lnSpc>
                <a:spcPct val="126000"/>
              </a:lnSpc>
              <a:buSzPct val="100000"/>
              <a:buChar char="•"/>
            </a:pPr>
            <a:r>
              <a:rPr lang="en-US" sz="1333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Regression: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Mayor AUC — mejor discriminación global.</a:t>
            </a:r>
            <a:endParaRPr lang="en-US" sz="1333" dirty="0"/>
          </a:p>
          <a:p>
            <a:pPr marL="457189" indent="-457189">
              <a:lnSpc>
                <a:spcPct val="126000"/>
              </a:lnSpc>
              <a:buSzPct val="100000"/>
              <a:buChar char="•"/>
            </a:pPr>
            <a:r>
              <a:rPr lang="en-US" sz="1333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Tree:</a:t>
            </a: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Mejores métricas en clase Churn bajo el umbral usado.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6220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72988"/>
            <a:ext cx="10484843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867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Validación, Selección del Modelo y Discusión</a:t>
            </a:r>
            <a:endParaRPr lang="en-US" sz="386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b="3171"/>
          <a:stretch>
            <a:fillRect/>
          </a:stretch>
        </p:blipFill>
        <p:spPr>
          <a:xfrm>
            <a:off x="661493" y="1689300"/>
            <a:ext cx="5203924" cy="28217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935" y="1665684"/>
            <a:ext cx="373449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9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Interpretación de resultados</a:t>
            </a:r>
            <a:endParaRPr lang="en-US" sz="1933" dirty="0"/>
          </a:p>
        </p:txBody>
      </p:sp>
      <p:sp>
        <p:nvSpPr>
          <p:cNvPr id="5" name="Text 2"/>
          <p:cNvSpPr/>
          <p:nvPr/>
        </p:nvSpPr>
        <p:spPr>
          <a:xfrm>
            <a:off x="6332935" y="2164755"/>
            <a:ext cx="52039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 obtiene el mayor AUC (0,784), con mejor capacidad probabilística de separar clases. Sin embargo, Decision Tree supera en Accuracy, Recall y F1 para Churn.</a:t>
            </a:r>
            <a:endParaRPr lang="en-US" sz="1467" dirty="0"/>
          </a:p>
        </p:txBody>
      </p:sp>
      <p:sp>
        <p:nvSpPr>
          <p:cNvPr id="6" name="Text 3"/>
          <p:cNvSpPr/>
          <p:nvPr/>
        </p:nvSpPr>
        <p:spPr>
          <a:xfrm>
            <a:off x="6332935" y="3544491"/>
            <a:ext cx="520392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marketing, el </a:t>
            </a:r>
            <a:r>
              <a:rPr lang="en-US" sz="1467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 de Churn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 crítico: representa la capacidad de detectar clientes que no volverán a comprar.</a:t>
            </a:r>
            <a:endParaRPr lang="en-US" sz="1467" dirty="0"/>
          </a:p>
        </p:txBody>
      </p:sp>
      <p:sp>
        <p:nvSpPr>
          <p:cNvPr id="7" name="Shape 4"/>
          <p:cNvSpPr/>
          <p:nvPr/>
        </p:nvSpPr>
        <p:spPr>
          <a:xfrm>
            <a:off x="6332935" y="4361953"/>
            <a:ext cx="5203924" cy="1710432"/>
          </a:xfrm>
          <a:prstGeom prst="roundRect">
            <a:avLst>
              <a:gd name="adj" fmla="val 165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47" y="4648697"/>
            <a:ext cx="236240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198" y="4598193"/>
            <a:ext cx="440064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Decisión:</a:t>
            </a:r>
            <a:r>
              <a:rPr lang="en-US" sz="146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Decision Tree como modelo operativo por interpretabilidad y mejor rendimiento en Churn. Logistic Regression se mantiene como baseline. Aun </a:t>
            </a:r>
            <a:r>
              <a:rPr lang="en-US" sz="1467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así</a:t>
            </a:r>
            <a:r>
              <a:rPr lang="en-US" sz="146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67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</a:t>
            </a:r>
            <a:r>
              <a:rPr lang="en-US" sz="146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r>
              <a:rPr lang="en-US" sz="146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son </a:t>
            </a:r>
            <a:r>
              <a:rPr lang="en-US" sz="1467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similares</a:t>
            </a:r>
            <a:r>
              <a:rPr lang="en-US" sz="1467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67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B8C9123-08B7-032F-C9C9-05CDFBD4EE10}"/>
              </a:ext>
            </a:extLst>
          </p:cNvPr>
          <p:cNvSpPr/>
          <p:nvPr/>
        </p:nvSpPr>
        <p:spPr>
          <a:xfrm>
            <a:off x="699990" y="4743202"/>
            <a:ext cx="520392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evaluaron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dos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modelos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clasificación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predecir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Churn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frente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Returned,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entrenados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sobre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misma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67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partición</a:t>
            </a:r>
            <a:r>
              <a:rPr lang="en-US" sz="14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70/30.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00684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6E97D5-7BF5-F2EA-F22E-57D5BCB00FB9}"/>
              </a:ext>
            </a:extLst>
          </p:cNvPr>
          <p:cNvSpPr/>
          <p:nvPr/>
        </p:nvSpPr>
        <p:spPr>
          <a:xfrm>
            <a:off x="568525" y="532011"/>
            <a:ext cx="11054953" cy="1066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333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Comparación</a:t>
            </a:r>
            <a:r>
              <a:rPr lang="en-US" sz="33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 Técnicas Supervisadas</a:t>
            </a:r>
            <a:endParaRPr lang="en-US" sz="3333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A9EFF7-C835-38FA-2433-2967D6BC2D8D}"/>
              </a:ext>
            </a:extLst>
          </p:cNvPr>
          <p:cNvSpPr/>
          <p:nvPr/>
        </p:nvSpPr>
        <p:spPr>
          <a:xfrm>
            <a:off x="3151163" y="1276959"/>
            <a:ext cx="8390936" cy="4217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2A38CB-1401-2140-9831-6B79668DC826}"/>
              </a:ext>
            </a:extLst>
          </p:cNvPr>
          <p:cNvSpPr/>
          <p:nvPr/>
        </p:nvSpPr>
        <p:spPr>
          <a:xfrm>
            <a:off x="3426104" y="1367050"/>
            <a:ext cx="436403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</a:t>
            </a:r>
            <a:endParaRPr lang="en-US" sz="126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EEBEC3-757C-5DA1-247E-16C0302F861A}"/>
              </a:ext>
            </a:extLst>
          </p:cNvPr>
          <p:cNvSpPr/>
          <p:nvPr/>
        </p:nvSpPr>
        <p:spPr>
          <a:xfrm>
            <a:off x="7511733" y="1367050"/>
            <a:ext cx="4477544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Tree</a:t>
            </a:r>
            <a:endParaRPr lang="en-US" sz="1267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047C3C5-078C-FB48-C43E-48CE1A2C64CF}"/>
              </a:ext>
            </a:extLst>
          </p:cNvPr>
          <p:cNvSpPr/>
          <p:nvPr/>
        </p:nvSpPr>
        <p:spPr>
          <a:xfrm>
            <a:off x="499846" y="1698739"/>
            <a:ext cx="11042253" cy="4217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A5CD9B-275A-9C7C-C41F-B48FBCE559B9}"/>
              </a:ext>
            </a:extLst>
          </p:cNvPr>
          <p:cNvSpPr/>
          <p:nvPr/>
        </p:nvSpPr>
        <p:spPr>
          <a:xfrm>
            <a:off x="662365" y="1788830"/>
            <a:ext cx="304214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</a:t>
            </a:r>
            <a:endParaRPr lang="en-US" sz="12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5B9110-4C1A-6BB5-4945-0FF1F7329AC2}"/>
              </a:ext>
            </a:extLst>
          </p:cNvPr>
          <p:cNvSpPr/>
          <p:nvPr/>
        </p:nvSpPr>
        <p:spPr>
          <a:xfrm>
            <a:off x="3426104" y="1788830"/>
            <a:ext cx="436403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 lineal</a:t>
            </a:r>
            <a:endParaRPr lang="en-US" sz="126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B09FD7-73C8-EE45-BFC3-E212B3D3870F}"/>
              </a:ext>
            </a:extLst>
          </p:cNvPr>
          <p:cNvSpPr/>
          <p:nvPr/>
        </p:nvSpPr>
        <p:spPr>
          <a:xfrm>
            <a:off x="7511733" y="1788830"/>
            <a:ext cx="4477544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lineal e interpretable</a:t>
            </a:r>
            <a:endParaRPr lang="en-US" sz="12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6870A3B-F33E-7A05-23A5-7C8976D0A15F}"/>
              </a:ext>
            </a:extLst>
          </p:cNvPr>
          <p:cNvSpPr/>
          <p:nvPr/>
        </p:nvSpPr>
        <p:spPr>
          <a:xfrm>
            <a:off x="499846" y="2120517"/>
            <a:ext cx="11042253" cy="4217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32C8DE-FFFF-9BFB-56B1-18DA3692CA09}"/>
              </a:ext>
            </a:extLst>
          </p:cNvPr>
          <p:cNvSpPr/>
          <p:nvPr/>
        </p:nvSpPr>
        <p:spPr>
          <a:xfrm>
            <a:off x="662365" y="2210608"/>
            <a:ext cx="304214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</a:t>
            </a:r>
            <a:endParaRPr lang="en-US" sz="1267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8EE07A6-65E4-C4F2-7FA8-CD9D2315683E}"/>
              </a:ext>
            </a:extLst>
          </p:cNvPr>
          <p:cNvSpPr/>
          <p:nvPr/>
        </p:nvSpPr>
        <p:spPr>
          <a:xfrm>
            <a:off x="3426104" y="2210608"/>
            <a:ext cx="436403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Interpretación probabilística, mayor AUC</a:t>
            </a:r>
            <a:endParaRPr lang="en-US" sz="1267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C46434-E39E-8296-5406-0ADCCE999FF4}"/>
              </a:ext>
            </a:extLst>
          </p:cNvPr>
          <p:cNvSpPr/>
          <p:nvPr/>
        </p:nvSpPr>
        <p:spPr>
          <a:xfrm>
            <a:off x="7511733" y="2210608"/>
            <a:ext cx="4477544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Mejor accuracy, recall y F1 en Churn</a:t>
            </a:r>
            <a:endParaRPr lang="en-US" sz="1267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61C3A87-6C56-B920-EF9A-4E402A715378}"/>
              </a:ext>
            </a:extLst>
          </p:cNvPr>
          <p:cNvSpPr/>
          <p:nvPr/>
        </p:nvSpPr>
        <p:spPr>
          <a:xfrm>
            <a:off x="499846" y="2542296"/>
            <a:ext cx="11042253" cy="6633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F71D8CA-B971-27BA-285E-03D37707A9C7}"/>
              </a:ext>
            </a:extLst>
          </p:cNvPr>
          <p:cNvSpPr/>
          <p:nvPr/>
        </p:nvSpPr>
        <p:spPr>
          <a:xfrm>
            <a:off x="662365" y="2632387"/>
            <a:ext cx="3042147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Limitación</a:t>
            </a:r>
            <a:endParaRPr lang="en-US" sz="126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AB01AAD-CA55-8DB2-6F81-3BB40E0FBB42}"/>
              </a:ext>
            </a:extLst>
          </p:cNvPr>
          <p:cNvSpPr/>
          <p:nvPr/>
        </p:nvSpPr>
        <p:spPr>
          <a:xfrm>
            <a:off x="3426104" y="2632387"/>
            <a:ext cx="375443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Warning de convergencia; relaciones no lineales limitadas</a:t>
            </a:r>
            <a:endParaRPr lang="en-US" sz="1267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CDEEAAA-9B41-93B0-271C-2041C95FF66E}"/>
              </a:ext>
            </a:extLst>
          </p:cNvPr>
          <p:cNvSpPr/>
          <p:nvPr/>
        </p:nvSpPr>
        <p:spPr>
          <a:xfrm>
            <a:off x="7511733" y="2632387"/>
            <a:ext cx="4477544" cy="24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Puede sobreajustar sin poda adecuada</a:t>
            </a:r>
            <a:endParaRPr lang="en-US" sz="1267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CB0A9956-1749-4F08-F06F-E659751D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3" t="28244" r="50071" b="6435"/>
          <a:stretch>
            <a:fillRect/>
          </a:stretch>
        </p:blipFill>
        <p:spPr>
          <a:xfrm>
            <a:off x="1144140" y="3531229"/>
            <a:ext cx="3314409" cy="1265937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A287F7B8-9D3C-D9BD-FB4A-DA9EBCF0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29" t="29330" r="513" b="5349"/>
          <a:stretch>
            <a:fillRect/>
          </a:stretch>
        </p:blipFill>
        <p:spPr>
          <a:xfrm>
            <a:off x="1104055" y="4948073"/>
            <a:ext cx="3354493" cy="1265937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538FFAE-5061-64AC-8611-7658168D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57"/>
          <a:stretch>
            <a:fillRect/>
          </a:stretch>
        </p:blipFill>
        <p:spPr>
          <a:xfrm>
            <a:off x="8365067" y="3338769"/>
            <a:ext cx="2992248" cy="304043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AFF05B3F-9E70-7C69-BA95-631BC3D6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157"/>
          <a:stretch>
            <a:fillRect/>
          </a:stretch>
        </p:blipFill>
        <p:spPr>
          <a:xfrm>
            <a:off x="4915683" y="3360406"/>
            <a:ext cx="2992248" cy="304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2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F4B52B-3A44-54F6-7832-7050C8CB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78" y="0"/>
            <a:ext cx="11112623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5C4D9B5-431C-66E4-199C-5E50C8239197}"/>
              </a:ext>
            </a:extLst>
          </p:cNvPr>
          <p:cNvSpPr/>
          <p:nvPr/>
        </p:nvSpPr>
        <p:spPr>
          <a:xfrm>
            <a:off x="568525" y="532011"/>
            <a:ext cx="11054953" cy="1066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3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Tree View</a:t>
            </a:r>
            <a:endParaRPr lang="en-US" sz="3333" dirty="0"/>
          </a:p>
        </p:txBody>
      </p:sp>
    </p:spTree>
    <p:extLst>
      <p:ext uri="{BB962C8B-B14F-4D97-AF65-F5344CB8AC3E}">
        <p14:creationId xmlns:p14="http://schemas.microsoft.com/office/powerpoint/2010/main" val="520614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8B4F9B-C68D-E737-20D7-9DCBE98BC37D}"/>
              </a:ext>
            </a:extLst>
          </p:cNvPr>
          <p:cNvSpPr/>
          <p:nvPr/>
        </p:nvSpPr>
        <p:spPr>
          <a:xfrm>
            <a:off x="609800" y="504329"/>
            <a:ext cx="9303345" cy="57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Explicabilidad del Modelo hacia el Negocio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DB2F24-6AAB-4112-D28C-766E180CF0B4}"/>
              </a:ext>
            </a:extLst>
          </p:cNvPr>
          <p:cNvSpPr/>
          <p:nvPr/>
        </p:nvSpPr>
        <p:spPr>
          <a:xfrm>
            <a:off x="609799" y="1397297"/>
            <a:ext cx="11582003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árbol revela qué variables separan el riesgo de abandono. Los splits coinciden con la lógica de negocio.</a:t>
            </a:r>
            <a:endParaRPr lang="en-US" sz="1333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E1C7D4E-3780-7E6A-035F-1F17D80E0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799" y="1845767"/>
            <a:ext cx="348456" cy="34845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F545F47-78A7-EF6F-A981-AD7D0B6FB7CE}"/>
              </a:ext>
            </a:extLst>
          </p:cNvPr>
          <p:cNvSpPr/>
          <p:nvPr/>
        </p:nvSpPr>
        <p:spPr>
          <a:xfrm>
            <a:off x="609799" y="2394944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Recencia de compra</a:t>
            </a: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616CAD-DFA7-64A5-AF1A-B7E2BB1DCB33}"/>
              </a:ext>
            </a:extLst>
          </p:cNvPr>
          <p:cNvSpPr/>
          <p:nvPr/>
        </p:nvSpPr>
        <p:spPr>
          <a:xfrm>
            <a:off x="609799" y="2777134"/>
            <a:ext cx="538579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Mayor tiempo desde la última compra → mayor probabilidad de churn.</a:t>
            </a:r>
            <a:endParaRPr lang="en-US" sz="1333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5DBB5A2-CBF5-37E3-EC04-F232BDB8B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311" y="1845767"/>
            <a:ext cx="348456" cy="34845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876A951F-9A65-F1F6-6D39-D81C8D89BF5B}"/>
              </a:ext>
            </a:extLst>
          </p:cNvPr>
          <p:cNvSpPr/>
          <p:nvPr/>
        </p:nvSpPr>
        <p:spPr>
          <a:xfrm>
            <a:off x="6196311" y="2394944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Frecuencia histórica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7252928-1B5F-80A1-99BE-AF53FD9975CF}"/>
              </a:ext>
            </a:extLst>
          </p:cNvPr>
          <p:cNvSpPr/>
          <p:nvPr/>
        </p:nvSpPr>
        <p:spPr>
          <a:xfrm>
            <a:off x="6196311" y="2777133"/>
            <a:ext cx="59954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Pocas facturas históricas indican menor fidelización.</a:t>
            </a:r>
            <a:endParaRPr lang="en-US" sz="1333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6B675E1C-D949-973F-7F97-AF905E9D6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799" y="3633985"/>
            <a:ext cx="348456" cy="34845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1AE6E8D-2EC7-83EA-02CC-D4716B36DC6C}"/>
              </a:ext>
            </a:extLst>
          </p:cNvPr>
          <p:cNvSpPr/>
          <p:nvPr/>
        </p:nvSpPr>
        <p:spPr>
          <a:xfrm>
            <a:off x="609799" y="4183162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Valor histórico</a:t>
            </a:r>
            <a:endParaRPr lang="en-US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D1F1746-BC63-AD2B-736A-6869CC44E464}"/>
              </a:ext>
            </a:extLst>
          </p:cNvPr>
          <p:cNvSpPr/>
          <p:nvPr/>
        </p:nvSpPr>
        <p:spPr>
          <a:xfrm>
            <a:off x="609799" y="4565352"/>
            <a:ext cx="59953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Menor valor acumulado suele asociarse a menor compromiso.</a:t>
            </a:r>
            <a:endParaRPr lang="en-US" sz="1333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0B8009D3-BD40-3233-BB62-F3F06A6015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311" y="3633985"/>
            <a:ext cx="348456" cy="34845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7306881C-D4A7-6469-B8EE-177508581D42}"/>
              </a:ext>
            </a:extLst>
          </p:cNvPr>
          <p:cNvSpPr/>
          <p:nvPr/>
        </p:nvSpPr>
        <p:spPr>
          <a:xfrm>
            <a:off x="6196311" y="4183162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Tenure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7A3506D-1043-F251-D39A-F11239DBC186}"/>
              </a:ext>
            </a:extLst>
          </p:cNvPr>
          <p:cNvSpPr/>
          <p:nvPr/>
        </p:nvSpPr>
        <p:spPr>
          <a:xfrm>
            <a:off x="6196311" y="4565352"/>
            <a:ext cx="59954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Relaciones más largas pueden indicar mayor fidelidad.</a:t>
            </a:r>
            <a:endParaRPr lang="en-US" sz="1333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C1264B8D-FDC0-E8F3-C5BD-D17680BD9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799" y="5154415"/>
            <a:ext cx="348456" cy="34845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31A80943-5BC6-C41D-5263-FBBD53AB6926}"/>
              </a:ext>
            </a:extLst>
          </p:cNvPr>
          <p:cNvSpPr/>
          <p:nvPr/>
        </p:nvSpPr>
        <p:spPr>
          <a:xfrm>
            <a:off x="609799" y="5703590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Valor medio de cesta</a:t>
            </a:r>
            <a:endParaRPr 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B088C81-5E55-D807-FAF4-D48893B6E7C0}"/>
              </a:ext>
            </a:extLst>
          </p:cNvPr>
          <p:cNvSpPr/>
          <p:nvPr/>
        </p:nvSpPr>
        <p:spPr>
          <a:xfrm>
            <a:off x="609799" y="6085780"/>
            <a:ext cx="59953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Ayuda a priorizar acciones de recuperación segmentadas.</a:t>
            </a:r>
            <a:endParaRPr lang="en-US" sz="1333" dirty="0"/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5972CECA-5303-A619-1373-6C4DA81B8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6311" y="5154415"/>
            <a:ext cx="348456" cy="348456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A9C3B6EF-3673-EEE4-04FD-A041DB79CF71}"/>
              </a:ext>
            </a:extLst>
          </p:cNvPr>
          <p:cNvSpPr/>
          <p:nvPr/>
        </p:nvSpPr>
        <p:spPr>
          <a:xfrm>
            <a:off x="6196311" y="5703590"/>
            <a:ext cx="2896692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Variedad de catálogo</a:t>
            </a: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8DC607A-3A59-956F-3631-F6EAD1A99DB8}"/>
              </a:ext>
            </a:extLst>
          </p:cNvPr>
          <p:cNvSpPr/>
          <p:nvPr/>
        </p:nvSpPr>
        <p:spPr>
          <a:xfrm>
            <a:off x="6196311" y="6085780"/>
            <a:ext cx="59954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Mayor variedad indica relación más rica con el producto.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297860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E750D3-5AEC-9621-0789-ED5C2A66A434}"/>
              </a:ext>
            </a:extLst>
          </p:cNvPr>
          <p:cNvSpPr/>
          <p:nvPr/>
        </p:nvSpPr>
        <p:spPr>
          <a:xfrm>
            <a:off x="566928" y="457200"/>
            <a:ext cx="1691640" cy="201168"/>
          </a:xfrm>
          <a:prstGeom prst="roundRect">
            <a:avLst/>
          </a:prstGeom>
          <a:solidFill>
            <a:srgbClr val="FF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B0755-F56B-BD23-C29C-8C6CDE245DEE}"/>
              </a:ext>
            </a:extLst>
          </p:cNvPr>
          <p:cNvSpPr txBox="1"/>
          <p:nvPr/>
        </p:nvSpPr>
        <p:spPr>
          <a:xfrm>
            <a:off x="621792" y="498348"/>
            <a:ext cx="158191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80" b="1">
                <a:solidFill>
                  <a:srgbClr val="873A08"/>
                </a:solidFill>
                <a:latin typeface="DM Sans"/>
              </a:rPr>
              <a:t>SCORING · DECISION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FC0B4-BDF9-0983-8CE1-F217A8110CE3}"/>
              </a:ext>
            </a:extLst>
          </p:cNvPr>
          <p:cNvSpPr txBox="1"/>
          <p:nvPr/>
        </p:nvSpPr>
        <p:spPr>
          <a:xfrm>
            <a:off x="566928" y="786384"/>
            <a:ext cx="103327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020202"/>
                </a:solidFill>
                <a:latin typeface="PT Serif"/>
              </a:rPr>
              <a:t>Scoring de nuevos clientes y decisión CRM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C7E6B-F791-D8E4-2A2C-F3145252C0C2}"/>
              </a:ext>
            </a:extLst>
          </p:cNvPr>
          <p:cNvSpPr txBox="1"/>
          <p:nvPr/>
        </p:nvSpPr>
        <p:spPr>
          <a:xfrm>
            <a:off x="566928" y="1408176"/>
            <a:ext cx="92990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A5A5A"/>
                </a:solidFill>
                <a:latin typeface="DM Sans"/>
              </a:rPr>
              <a:t>El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modelo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seleccionado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se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aplica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a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clientes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no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usados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en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entrenamiento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para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transformar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riesgo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de churn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en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acciones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200" b="0" dirty="0" err="1">
                <a:solidFill>
                  <a:srgbClr val="5A5A5A"/>
                </a:solidFill>
                <a:latin typeface="DM Sans"/>
              </a:rPr>
              <a:t>priorizadas</a:t>
            </a:r>
            <a:r>
              <a:rPr sz="120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B107C2-3951-3CA6-6F46-380BC8100B75}"/>
              </a:ext>
            </a:extLst>
          </p:cNvPr>
          <p:cNvSpPr/>
          <p:nvPr/>
        </p:nvSpPr>
        <p:spPr>
          <a:xfrm>
            <a:off x="1252728" y="2039112"/>
            <a:ext cx="2011680" cy="658368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887F0F-9A96-E366-3C38-2364973D274F}"/>
              </a:ext>
            </a:extLst>
          </p:cNvPr>
          <p:cNvSpPr/>
          <p:nvPr/>
        </p:nvSpPr>
        <p:spPr>
          <a:xfrm>
            <a:off x="1371600" y="2194560"/>
            <a:ext cx="320040" cy="320040"/>
          </a:xfrm>
          <a:prstGeom prst="ellipse">
            <a:avLst/>
          </a:prstGeom>
          <a:solidFill>
            <a:srgbClr val="BF5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9159A-99D3-B424-2D4E-A9479FEF6B22}"/>
              </a:ext>
            </a:extLst>
          </p:cNvPr>
          <p:cNvSpPr txBox="1"/>
          <p:nvPr/>
        </p:nvSpPr>
        <p:spPr>
          <a:xfrm>
            <a:off x="1496354" y="2263140"/>
            <a:ext cx="7053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C28BF-CDE1-653C-77F7-2B03792A9587}"/>
              </a:ext>
            </a:extLst>
          </p:cNvPr>
          <p:cNvSpPr txBox="1"/>
          <p:nvPr/>
        </p:nvSpPr>
        <p:spPr>
          <a:xfrm>
            <a:off x="1755648" y="2148840"/>
            <a:ext cx="9040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202020"/>
                </a:solidFill>
                <a:latin typeface="Georgia"/>
              </a:rPr>
              <a:t>Datos RFM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B1726-142C-29B5-640E-976FCC9C874B}"/>
              </a:ext>
            </a:extLst>
          </p:cNvPr>
          <p:cNvSpPr txBox="1"/>
          <p:nvPr/>
        </p:nvSpPr>
        <p:spPr>
          <a:xfrm>
            <a:off x="1755648" y="2359152"/>
            <a:ext cx="136095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DM Sans"/>
              </a:rPr>
              <a:t>recency, frecuencia, valor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C1389-CD2F-C94B-20AB-6BB26950E31D}"/>
              </a:ext>
            </a:extLst>
          </p:cNvPr>
          <p:cNvSpPr txBox="1"/>
          <p:nvPr/>
        </p:nvSpPr>
        <p:spPr>
          <a:xfrm>
            <a:off x="3401345" y="2157984"/>
            <a:ext cx="25648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BF5B1E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67C99B-2CE0-5ECC-0C8D-5BBBBC20F4EF}"/>
              </a:ext>
            </a:extLst>
          </p:cNvPr>
          <p:cNvSpPr/>
          <p:nvPr/>
        </p:nvSpPr>
        <p:spPr>
          <a:xfrm>
            <a:off x="3867912" y="2039112"/>
            <a:ext cx="2011680" cy="658368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257CE3-5BFC-2E2E-556F-C4F342E5623E}"/>
              </a:ext>
            </a:extLst>
          </p:cNvPr>
          <p:cNvSpPr/>
          <p:nvPr/>
        </p:nvSpPr>
        <p:spPr>
          <a:xfrm>
            <a:off x="3986783" y="2194560"/>
            <a:ext cx="320040" cy="320040"/>
          </a:xfrm>
          <a:prstGeom prst="ellipse">
            <a:avLst/>
          </a:prstGeom>
          <a:solidFill>
            <a:srgbClr val="BF5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7CA5C-B3CD-1CEB-B59A-D04DA3C4A0DE}"/>
              </a:ext>
            </a:extLst>
          </p:cNvPr>
          <p:cNvSpPr txBox="1"/>
          <p:nvPr/>
        </p:nvSpPr>
        <p:spPr>
          <a:xfrm>
            <a:off x="4111537" y="2263140"/>
            <a:ext cx="7053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1C229A-1F2E-A80B-740E-5917829C1B82}"/>
              </a:ext>
            </a:extLst>
          </p:cNvPr>
          <p:cNvSpPr txBox="1"/>
          <p:nvPr/>
        </p:nvSpPr>
        <p:spPr>
          <a:xfrm>
            <a:off x="4370832" y="2148840"/>
            <a:ext cx="59952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202020"/>
                </a:solidFill>
                <a:latin typeface="Georgia"/>
              </a:rPr>
              <a:t>Modelo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B7ED5-4E0D-C732-B0FE-7C884C55568A}"/>
              </a:ext>
            </a:extLst>
          </p:cNvPr>
          <p:cNvSpPr txBox="1"/>
          <p:nvPr/>
        </p:nvSpPr>
        <p:spPr>
          <a:xfrm>
            <a:off x="4370832" y="2359152"/>
            <a:ext cx="72616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DM Sans"/>
              </a:rPr>
              <a:t>Decision Tree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8F8D36-25C0-4993-AC71-31EE8303BCB4}"/>
              </a:ext>
            </a:extLst>
          </p:cNvPr>
          <p:cNvSpPr txBox="1"/>
          <p:nvPr/>
        </p:nvSpPr>
        <p:spPr>
          <a:xfrm>
            <a:off x="6016529" y="2157984"/>
            <a:ext cx="25648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BF5B1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E01CD3-8381-6CA3-084F-0315C70F220D}"/>
              </a:ext>
            </a:extLst>
          </p:cNvPr>
          <p:cNvSpPr/>
          <p:nvPr/>
        </p:nvSpPr>
        <p:spPr>
          <a:xfrm>
            <a:off x="6483096" y="2039112"/>
            <a:ext cx="2011680" cy="658368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376BB-CC5C-82C9-EA0D-97AD5ED174E3}"/>
              </a:ext>
            </a:extLst>
          </p:cNvPr>
          <p:cNvSpPr/>
          <p:nvPr/>
        </p:nvSpPr>
        <p:spPr>
          <a:xfrm>
            <a:off x="6601968" y="2194560"/>
            <a:ext cx="320040" cy="320040"/>
          </a:xfrm>
          <a:prstGeom prst="ellipse">
            <a:avLst/>
          </a:prstGeom>
          <a:solidFill>
            <a:srgbClr val="BF5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720FD5-4185-DB96-6B77-676EE8C08319}"/>
              </a:ext>
            </a:extLst>
          </p:cNvPr>
          <p:cNvSpPr txBox="1"/>
          <p:nvPr/>
        </p:nvSpPr>
        <p:spPr>
          <a:xfrm>
            <a:off x="6726722" y="2263140"/>
            <a:ext cx="7053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B034B9-F379-CDF9-32E4-0CC3ECE38476}"/>
              </a:ext>
            </a:extLst>
          </p:cNvPr>
          <p:cNvSpPr txBox="1"/>
          <p:nvPr/>
        </p:nvSpPr>
        <p:spPr>
          <a:xfrm>
            <a:off x="6986015" y="2148840"/>
            <a:ext cx="43922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202020"/>
                </a:solidFill>
                <a:latin typeface="Georgia"/>
              </a:rPr>
              <a:t>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9F668F-8449-C707-2B41-12F6B06AB5BB}"/>
              </a:ext>
            </a:extLst>
          </p:cNvPr>
          <p:cNvSpPr txBox="1"/>
          <p:nvPr/>
        </p:nvSpPr>
        <p:spPr>
          <a:xfrm>
            <a:off x="6986015" y="2359152"/>
            <a:ext cx="119423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DM Sans"/>
              </a:rPr>
              <a:t>churn alto/medio/bajo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9811A-3AFB-C78C-3E5D-57D456569B38}"/>
              </a:ext>
            </a:extLst>
          </p:cNvPr>
          <p:cNvSpPr txBox="1"/>
          <p:nvPr/>
        </p:nvSpPr>
        <p:spPr>
          <a:xfrm>
            <a:off x="8631712" y="2157984"/>
            <a:ext cx="25648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BF5B1E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5FF48BC-2C2D-1DE3-CFDF-B7CBC343BD6B}"/>
              </a:ext>
            </a:extLst>
          </p:cNvPr>
          <p:cNvSpPr/>
          <p:nvPr/>
        </p:nvSpPr>
        <p:spPr>
          <a:xfrm>
            <a:off x="9098280" y="2039112"/>
            <a:ext cx="2011680" cy="658368"/>
          </a:xfrm>
          <a:prstGeom prst="roundRect">
            <a:avLst/>
          </a:prstGeom>
          <a:solidFill>
            <a:srgbClr val="F7F2EE"/>
          </a:solidFill>
          <a:ln w="7620">
            <a:solidFill>
              <a:srgbClr val="E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3F9543-4BDD-5FF6-E578-C87731E74EAF}"/>
              </a:ext>
            </a:extLst>
          </p:cNvPr>
          <p:cNvSpPr/>
          <p:nvPr/>
        </p:nvSpPr>
        <p:spPr>
          <a:xfrm>
            <a:off x="9217152" y="2194560"/>
            <a:ext cx="320040" cy="320040"/>
          </a:xfrm>
          <a:prstGeom prst="ellipse">
            <a:avLst/>
          </a:prstGeom>
          <a:solidFill>
            <a:srgbClr val="BF5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4974A-F5C5-11FE-0E6D-89F581E33B57}"/>
              </a:ext>
            </a:extLst>
          </p:cNvPr>
          <p:cNvSpPr txBox="1"/>
          <p:nvPr/>
        </p:nvSpPr>
        <p:spPr>
          <a:xfrm>
            <a:off x="9341906" y="2263140"/>
            <a:ext cx="7053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DEDF8D-EC50-110C-BEFE-C14C2273E833}"/>
              </a:ext>
            </a:extLst>
          </p:cNvPr>
          <p:cNvSpPr txBox="1"/>
          <p:nvPr/>
        </p:nvSpPr>
        <p:spPr>
          <a:xfrm>
            <a:off x="9601200" y="2148840"/>
            <a:ext cx="5386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202020"/>
                </a:solidFill>
                <a:latin typeface="Georgia"/>
              </a:rPr>
              <a:t>Acción</a:t>
            </a:r>
            <a:endParaRPr sz="1400" b="0" dirty="0">
              <a:solidFill>
                <a:srgbClr val="202020"/>
              </a:solidFill>
              <a:latin typeface="Georgi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6970F5-7032-17C8-560F-466C888E8E82}"/>
              </a:ext>
            </a:extLst>
          </p:cNvPr>
          <p:cNvSpPr txBox="1"/>
          <p:nvPr/>
        </p:nvSpPr>
        <p:spPr>
          <a:xfrm>
            <a:off x="9601200" y="2359152"/>
            <a:ext cx="95058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DM Sans"/>
              </a:rPr>
              <a:t>CRM segmentado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EB2545-68EB-1E0D-D465-2FA88B2FAC8F}"/>
              </a:ext>
            </a:extLst>
          </p:cNvPr>
          <p:cNvSpPr/>
          <p:nvPr/>
        </p:nvSpPr>
        <p:spPr>
          <a:xfrm>
            <a:off x="1088136" y="3118104"/>
            <a:ext cx="1417320" cy="347472"/>
          </a:xfrm>
          <a:prstGeom prst="rect">
            <a:avLst/>
          </a:prstGeom>
          <a:solidFill>
            <a:srgbClr val="873A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2773E2-F8A9-463B-0C7D-AEE3040EC528}"/>
              </a:ext>
            </a:extLst>
          </p:cNvPr>
          <p:cNvSpPr txBox="1"/>
          <p:nvPr/>
        </p:nvSpPr>
        <p:spPr>
          <a:xfrm>
            <a:off x="1312689" y="3224040"/>
            <a:ext cx="96821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Cliente no visto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FC901F-EA9B-5A02-AED0-673D182EA786}"/>
              </a:ext>
            </a:extLst>
          </p:cNvPr>
          <p:cNvSpPr/>
          <p:nvPr/>
        </p:nvSpPr>
        <p:spPr>
          <a:xfrm>
            <a:off x="2505456" y="3118104"/>
            <a:ext cx="2148840" cy="347472"/>
          </a:xfrm>
          <a:prstGeom prst="rect">
            <a:avLst/>
          </a:prstGeom>
          <a:solidFill>
            <a:srgbClr val="873A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CECF5-AB86-7BE2-2ABB-D4540E17A805}"/>
              </a:ext>
            </a:extLst>
          </p:cNvPr>
          <p:cNvSpPr txBox="1"/>
          <p:nvPr/>
        </p:nvSpPr>
        <p:spPr>
          <a:xfrm>
            <a:off x="3272099" y="3224040"/>
            <a:ext cx="61555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Perfil RFM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41DE0B-D8CA-FADA-CAC2-69C133544404}"/>
              </a:ext>
            </a:extLst>
          </p:cNvPr>
          <p:cNvSpPr/>
          <p:nvPr/>
        </p:nvSpPr>
        <p:spPr>
          <a:xfrm>
            <a:off x="4654296" y="3118104"/>
            <a:ext cx="1417320" cy="347472"/>
          </a:xfrm>
          <a:prstGeom prst="rect">
            <a:avLst/>
          </a:prstGeom>
          <a:solidFill>
            <a:srgbClr val="873A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2C15D9-2525-44E0-54AF-B9EF5FEF06BF}"/>
              </a:ext>
            </a:extLst>
          </p:cNvPr>
          <p:cNvSpPr txBox="1"/>
          <p:nvPr/>
        </p:nvSpPr>
        <p:spPr>
          <a:xfrm>
            <a:off x="5029531" y="3224040"/>
            <a:ext cx="66685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Predicción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49352E-6640-8296-0143-D19B1C00CB80}"/>
              </a:ext>
            </a:extLst>
          </p:cNvPr>
          <p:cNvSpPr/>
          <p:nvPr/>
        </p:nvSpPr>
        <p:spPr>
          <a:xfrm>
            <a:off x="6071616" y="3118104"/>
            <a:ext cx="2423160" cy="347472"/>
          </a:xfrm>
          <a:prstGeom prst="rect">
            <a:avLst/>
          </a:prstGeom>
          <a:solidFill>
            <a:srgbClr val="873A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5F7CA5-FCC0-5553-A5F7-88D22FCC17EC}"/>
              </a:ext>
            </a:extLst>
          </p:cNvPr>
          <p:cNvSpPr txBox="1"/>
          <p:nvPr/>
        </p:nvSpPr>
        <p:spPr>
          <a:xfrm>
            <a:off x="6700505" y="3224040"/>
            <a:ext cx="116538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Drivers principales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5C1D85-07A2-2D9A-64C3-90936533C12D}"/>
              </a:ext>
            </a:extLst>
          </p:cNvPr>
          <p:cNvSpPr/>
          <p:nvPr/>
        </p:nvSpPr>
        <p:spPr>
          <a:xfrm>
            <a:off x="8494775" y="3118104"/>
            <a:ext cx="2377440" cy="347472"/>
          </a:xfrm>
          <a:prstGeom prst="rect">
            <a:avLst/>
          </a:prstGeom>
          <a:solidFill>
            <a:srgbClr val="873A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1CE720-9544-562F-6AA8-D04E16F4AD67}"/>
              </a:ext>
            </a:extLst>
          </p:cNvPr>
          <p:cNvSpPr txBox="1"/>
          <p:nvPr/>
        </p:nvSpPr>
        <p:spPr>
          <a:xfrm>
            <a:off x="9015844" y="3224040"/>
            <a:ext cx="133530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Acción recomendada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22A0A7-1163-AD4C-6734-29D5EBFFABEB}"/>
              </a:ext>
            </a:extLst>
          </p:cNvPr>
          <p:cNvSpPr/>
          <p:nvPr/>
        </p:nvSpPr>
        <p:spPr>
          <a:xfrm>
            <a:off x="1088136" y="3465575"/>
            <a:ext cx="141732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817E7-6366-8879-3FFA-6452A3900267}"/>
              </a:ext>
            </a:extLst>
          </p:cNvPr>
          <p:cNvSpPr txBox="1"/>
          <p:nvPr/>
        </p:nvSpPr>
        <p:spPr>
          <a:xfrm>
            <a:off x="1479402" y="3662952"/>
            <a:ext cx="63479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C-NEW-01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DB4D50-7787-8650-02EE-F5BA0F14ED99}"/>
              </a:ext>
            </a:extLst>
          </p:cNvPr>
          <p:cNvSpPr/>
          <p:nvPr/>
        </p:nvSpPr>
        <p:spPr>
          <a:xfrm>
            <a:off x="2505456" y="3465575"/>
            <a:ext cx="214884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9425B5-4FFA-8EA5-C807-113CB171FC46}"/>
              </a:ext>
            </a:extLst>
          </p:cNvPr>
          <p:cNvSpPr txBox="1"/>
          <p:nvPr/>
        </p:nvSpPr>
        <p:spPr>
          <a:xfrm>
            <a:off x="2854517" y="3586007"/>
            <a:ext cx="145071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dirty="0">
                <a:solidFill>
                  <a:srgbClr val="202020"/>
                </a:solidFill>
                <a:latin typeface="DM Sans"/>
              </a:rPr>
              <a:t>At-Risk High-Value</a:t>
            </a:r>
          </a:p>
          <a:p>
            <a:pPr algn="ctr"/>
            <a:r>
              <a:rPr sz="1000" b="0" dirty="0">
                <a:solidFill>
                  <a:srgbClr val="202020"/>
                </a:solidFill>
                <a:latin typeface="DM Sans"/>
              </a:rPr>
              <a:t>Recency </a:t>
            </a:r>
            <a:r>
              <a:rPr sz="1000" b="0" dirty="0" err="1">
                <a:solidFill>
                  <a:srgbClr val="202020"/>
                </a:solidFill>
                <a:latin typeface="DM Sans"/>
              </a:rPr>
              <a:t>alta</a:t>
            </a:r>
            <a:r>
              <a:rPr sz="1000" b="0" dirty="0">
                <a:solidFill>
                  <a:srgbClr val="202020"/>
                </a:solidFill>
                <a:latin typeface="DM Sans"/>
              </a:rPr>
              <a:t> + valor alto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4F50D7A-197D-0900-7109-4CA3030689A4}"/>
              </a:ext>
            </a:extLst>
          </p:cNvPr>
          <p:cNvSpPr/>
          <p:nvPr/>
        </p:nvSpPr>
        <p:spPr>
          <a:xfrm>
            <a:off x="4654296" y="3465575"/>
            <a:ext cx="1417320" cy="530352"/>
          </a:xfrm>
          <a:prstGeom prst="rect">
            <a:avLst/>
          </a:prstGeom>
          <a:solidFill>
            <a:srgbClr val="FFEAE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7EF1A5-5B72-772E-A66C-2EF32266FD42}"/>
              </a:ext>
            </a:extLst>
          </p:cNvPr>
          <p:cNvSpPr txBox="1"/>
          <p:nvPr/>
        </p:nvSpPr>
        <p:spPr>
          <a:xfrm>
            <a:off x="5054378" y="3662952"/>
            <a:ext cx="61715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Churn alto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A1E271-39D0-233F-1B38-35ECD10A977E}"/>
              </a:ext>
            </a:extLst>
          </p:cNvPr>
          <p:cNvSpPr/>
          <p:nvPr/>
        </p:nvSpPr>
        <p:spPr>
          <a:xfrm>
            <a:off x="6071616" y="3465575"/>
            <a:ext cx="242316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0E8200-558B-056B-798E-3D0E56CB4122}"/>
              </a:ext>
            </a:extLst>
          </p:cNvPr>
          <p:cNvSpPr txBox="1"/>
          <p:nvPr/>
        </p:nvSpPr>
        <p:spPr>
          <a:xfrm>
            <a:off x="6503335" y="3586007"/>
            <a:ext cx="155972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Mucho tiempo sin compra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y valor recuperable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8017B3-BE4D-7C23-7C42-8F5BD7664690}"/>
              </a:ext>
            </a:extLst>
          </p:cNvPr>
          <p:cNvSpPr/>
          <p:nvPr/>
        </p:nvSpPr>
        <p:spPr>
          <a:xfrm>
            <a:off x="8494775" y="3465575"/>
            <a:ext cx="237744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626598-F4D8-7366-107E-E008C1D3372B}"/>
              </a:ext>
            </a:extLst>
          </p:cNvPr>
          <p:cNvSpPr txBox="1"/>
          <p:nvPr/>
        </p:nvSpPr>
        <p:spPr>
          <a:xfrm>
            <a:off x="9086376" y="3586007"/>
            <a:ext cx="119423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Win-back prioritario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contacto CRM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E144C4-F994-C06D-64C6-73F2E66E9FBF}"/>
              </a:ext>
            </a:extLst>
          </p:cNvPr>
          <p:cNvSpPr/>
          <p:nvPr/>
        </p:nvSpPr>
        <p:spPr>
          <a:xfrm>
            <a:off x="1088136" y="3995927"/>
            <a:ext cx="141732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883734-DE43-7F72-CE6B-33C2647F9AC8}"/>
              </a:ext>
            </a:extLst>
          </p:cNvPr>
          <p:cNvSpPr txBox="1"/>
          <p:nvPr/>
        </p:nvSpPr>
        <p:spPr>
          <a:xfrm>
            <a:off x="1461768" y="4193303"/>
            <a:ext cx="67005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C-NEW-02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7D1EF2-CA79-5911-FFC3-BFB6DE469FF5}"/>
              </a:ext>
            </a:extLst>
          </p:cNvPr>
          <p:cNvSpPr/>
          <p:nvPr/>
        </p:nvSpPr>
        <p:spPr>
          <a:xfrm>
            <a:off x="2505456" y="3995927"/>
            <a:ext cx="214884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345678-D628-9F16-0623-B9437E949DD8}"/>
              </a:ext>
            </a:extLst>
          </p:cNvPr>
          <p:cNvSpPr txBox="1"/>
          <p:nvPr/>
        </p:nvSpPr>
        <p:spPr>
          <a:xfrm>
            <a:off x="2669370" y="4116358"/>
            <a:ext cx="182101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VIP High-Value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Recency baja + frecuencia alta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12D13F-DF96-4809-5B6B-FF0BDECBF5BC}"/>
              </a:ext>
            </a:extLst>
          </p:cNvPr>
          <p:cNvSpPr/>
          <p:nvPr/>
        </p:nvSpPr>
        <p:spPr>
          <a:xfrm>
            <a:off x="4654296" y="3995927"/>
            <a:ext cx="1417320" cy="530352"/>
          </a:xfrm>
          <a:prstGeom prst="rect">
            <a:avLst/>
          </a:prstGeom>
          <a:solidFill>
            <a:srgbClr val="CDF6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1C8234-9BA9-B26F-9113-B498173BD7D6}"/>
              </a:ext>
            </a:extLst>
          </p:cNvPr>
          <p:cNvSpPr txBox="1"/>
          <p:nvPr/>
        </p:nvSpPr>
        <p:spPr>
          <a:xfrm>
            <a:off x="4805913" y="4193303"/>
            <a:ext cx="111408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Returned probable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17A501B-13D6-A31A-589A-AC2E29E133A9}"/>
              </a:ext>
            </a:extLst>
          </p:cNvPr>
          <p:cNvSpPr/>
          <p:nvPr/>
        </p:nvSpPr>
        <p:spPr>
          <a:xfrm>
            <a:off x="6071616" y="3995927"/>
            <a:ext cx="242316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732918-D2EF-2F35-1A4F-E16EFB8485B3}"/>
              </a:ext>
            </a:extLst>
          </p:cNvPr>
          <p:cNvSpPr txBox="1"/>
          <p:nvPr/>
        </p:nvSpPr>
        <p:spPr>
          <a:xfrm>
            <a:off x="6779052" y="4116358"/>
            <a:ext cx="100828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Compra reciente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y relación larga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013538-04B1-7AF6-0C69-27DA6FFF3DDD}"/>
              </a:ext>
            </a:extLst>
          </p:cNvPr>
          <p:cNvSpPr/>
          <p:nvPr/>
        </p:nvSpPr>
        <p:spPr>
          <a:xfrm>
            <a:off x="8494775" y="3995927"/>
            <a:ext cx="237744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E180F9-4C89-E532-0F1B-B4583E003AEF}"/>
              </a:ext>
            </a:extLst>
          </p:cNvPr>
          <p:cNvSpPr txBox="1"/>
          <p:nvPr/>
        </p:nvSpPr>
        <p:spPr>
          <a:xfrm>
            <a:off x="9099201" y="4116358"/>
            <a:ext cx="116859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Retención premium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sin descuentos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8BAEEE3-9ECD-D159-C521-4CFD747DAE65}"/>
              </a:ext>
            </a:extLst>
          </p:cNvPr>
          <p:cNvSpPr/>
          <p:nvPr/>
        </p:nvSpPr>
        <p:spPr>
          <a:xfrm>
            <a:off x="1088136" y="4526279"/>
            <a:ext cx="141732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FFD720-7061-FF2D-41F4-EA89EE69BEF5}"/>
              </a:ext>
            </a:extLst>
          </p:cNvPr>
          <p:cNvSpPr txBox="1"/>
          <p:nvPr/>
        </p:nvSpPr>
        <p:spPr>
          <a:xfrm>
            <a:off x="1460966" y="4723655"/>
            <a:ext cx="671659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C-NEW-03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DBDC632-B459-B61C-F309-D2900A1A088B}"/>
              </a:ext>
            </a:extLst>
          </p:cNvPr>
          <p:cNvSpPr/>
          <p:nvPr/>
        </p:nvSpPr>
        <p:spPr>
          <a:xfrm>
            <a:off x="2505456" y="4526279"/>
            <a:ext cx="214884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D83379-8A23-54A5-3C1B-246A0E9A86A0}"/>
              </a:ext>
            </a:extLst>
          </p:cNvPr>
          <p:cNvSpPr txBox="1"/>
          <p:nvPr/>
        </p:nvSpPr>
        <p:spPr>
          <a:xfrm>
            <a:off x="2856922" y="4646710"/>
            <a:ext cx="144590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Dormant Low-Value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1 compra + revenue bajo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860630-80BE-1468-3FFB-A959FC936DB2}"/>
              </a:ext>
            </a:extLst>
          </p:cNvPr>
          <p:cNvSpPr/>
          <p:nvPr/>
        </p:nvSpPr>
        <p:spPr>
          <a:xfrm>
            <a:off x="4654296" y="4526279"/>
            <a:ext cx="1417320" cy="530352"/>
          </a:xfrm>
          <a:prstGeom prst="rect">
            <a:avLst/>
          </a:prstGeom>
          <a:solidFill>
            <a:srgbClr val="FFEAE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8B3835-4118-786B-2C5D-16BCA60A750D}"/>
              </a:ext>
            </a:extLst>
          </p:cNvPr>
          <p:cNvSpPr txBox="1"/>
          <p:nvPr/>
        </p:nvSpPr>
        <p:spPr>
          <a:xfrm>
            <a:off x="4952587" y="4646710"/>
            <a:ext cx="82073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Churn alto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baja prioridad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72B65F-2F64-D71A-0C60-97B71F390FA8}"/>
              </a:ext>
            </a:extLst>
          </p:cNvPr>
          <p:cNvSpPr/>
          <p:nvPr/>
        </p:nvSpPr>
        <p:spPr>
          <a:xfrm>
            <a:off x="6071616" y="4526279"/>
            <a:ext cx="242316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D1BE78-5D30-F4ED-E77F-DB33B5279EDD}"/>
              </a:ext>
            </a:extLst>
          </p:cNvPr>
          <p:cNvSpPr txBox="1"/>
          <p:nvPr/>
        </p:nvSpPr>
        <p:spPr>
          <a:xfrm>
            <a:off x="6827943" y="4646710"/>
            <a:ext cx="91050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Baja frecuencia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y bajo valor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2062BF-66EE-5CE7-FEED-39FEB6CE9738}"/>
              </a:ext>
            </a:extLst>
          </p:cNvPr>
          <p:cNvSpPr/>
          <p:nvPr/>
        </p:nvSpPr>
        <p:spPr>
          <a:xfrm>
            <a:off x="8494775" y="4526279"/>
            <a:ext cx="2377440" cy="530352"/>
          </a:xfrm>
          <a:prstGeom prst="rect">
            <a:avLst/>
          </a:prstGeom>
          <a:solidFill>
            <a:srgbClr val="FAF8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92EAEB-8F79-30A0-A77D-AED260FD85E0}"/>
              </a:ext>
            </a:extLst>
          </p:cNvPr>
          <p:cNvSpPr txBox="1"/>
          <p:nvPr/>
        </p:nvSpPr>
        <p:spPr>
          <a:xfrm>
            <a:off x="9011035" y="4646710"/>
            <a:ext cx="134492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Automatización barata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no inversión alta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E682DC-F6D6-A71B-5BCE-15FDA1D99C21}"/>
              </a:ext>
            </a:extLst>
          </p:cNvPr>
          <p:cNvSpPr/>
          <p:nvPr/>
        </p:nvSpPr>
        <p:spPr>
          <a:xfrm>
            <a:off x="1088136" y="5056631"/>
            <a:ext cx="141732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3E5513-AD93-2354-51E8-E736A8E4C384}"/>
              </a:ext>
            </a:extLst>
          </p:cNvPr>
          <p:cNvSpPr txBox="1"/>
          <p:nvPr/>
        </p:nvSpPr>
        <p:spPr>
          <a:xfrm>
            <a:off x="1460166" y="5254007"/>
            <a:ext cx="67326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C-NEW-04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D089D98-ECAA-874D-A94D-5B210960FA6B}"/>
              </a:ext>
            </a:extLst>
          </p:cNvPr>
          <p:cNvSpPr/>
          <p:nvPr/>
        </p:nvSpPr>
        <p:spPr>
          <a:xfrm>
            <a:off x="2505456" y="5056631"/>
            <a:ext cx="214884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E30A53-8859-A5ED-0836-7CCCB28FD78A}"/>
              </a:ext>
            </a:extLst>
          </p:cNvPr>
          <p:cNvSpPr txBox="1"/>
          <p:nvPr/>
        </p:nvSpPr>
        <p:spPr>
          <a:xfrm>
            <a:off x="2972338" y="5177062"/>
            <a:ext cx="121507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Active Repeat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actividad recurrente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E0A17CE-3F67-4C11-67EA-75C8E58586B5}"/>
              </a:ext>
            </a:extLst>
          </p:cNvPr>
          <p:cNvSpPr/>
          <p:nvPr/>
        </p:nvSpPr>
        <p:spPr>
          <a:xfrm>
            <a:off x="4654296" y="5056631"/>
            <a:ext cx="1417320" cy="530352"/>
          </a:xfrm>
          <a:prstGeom prst="rect">
            <a:avLst/>
          </a:prstGeom>
          <a:solidFill>
            <a:srgbClr val="E8F2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D8ED13-BD09-C32F-8A71-F8543BF505B6}"/>
              </a:ext>
            </a:extLst>
          </p:cNvPr>
          <p:cNvSpPr txBox="1"/>
          <p:nvPr/>
        </p:nvSpPr>
        <p:spPr>
          <a:xfrm>
            <a:off x="4803508" y="5254007"/>
            <a:ext cx="111889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Riesgo medio-bajo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7967191-4EE2-0A53-6727-2B321ED02422}"/>
              </a:ext>
            </a:extLst>
          </p:cNvPr>
          <p:cNvSpPr/>
          <p:nvPr/>
        </p:nvSpPr>
        <p:spPr>
          <a:xfrm>
            <a:off x="6071616" y="5056631"/>
            <a:ext cx="242316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C5EA7B-D9B2-B29E-707E-EE9250499108}"/>
              </a:ext>
            </a:extLst>
          </p:cNvPr>
          <p:cNvSpPr txBox="1"/>
          <p:nvPr/>
        </p:nvSpPr>
        <p:spPr>
          <a:xfrm>
            <a:off x="6718138" y="5177062"/>
            <a:ext cx="113011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Frecuencia estable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y cesta media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CC5EE6-083B-A0E7-A24A-7A00BED05D49}"/>
              </a:ext>
            </a:extLst>
          </p:cNvPr>
          <p:cNvSpPr/>
          <p:nvPr/>
        </p:nvSpPr>
        <p:spPr>
          <a:xfrm>
            <a:off x="8494775" y="5056631"/>
            <a:ext cx="2377440" cy="530352"/>
          </a:xfrm>
          <a:prstGeom prst="rect">
            <a:avLst/>
          </a:prstGeom>
          <a:solidFill>
            <a:srgbClr val="F6F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61F2FA-D104-8F0E-4FB0-E1C625BE3546}"/>
              </a:ext>
            </a:extLst>
          </p:cNvPr>
          <p:cNvSpPr txBox="1"/>
          <p:nvPr/>
        </p:nvSpPr>
        <p:spPr>
          <a:xfrm>
            <a:off x="9114430" y="5177062"/>
            <a:ext cx="113813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Cross-sell / puntos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DM Sans"/>
              </a:rPr>
              <a:t>fidelización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062930E-5346-8C30-B470-8F2BCA4FC922}"/>
              </a:ext>
            </a:extLst>
          </p:cNvPr>
          <p:cNvSpPr/>
          <p:nvPr/>
        </p:nvSpPr>
        <p:spPr>
          <a:xfrm>
            <a:off x="1088136" y="5641848"/>
            <a:ext cx="9784080" cy="429768"/>
          </a:xfrm>
          <a:prstGeom prst="roundRect">
            <a:avLst/>
          </a:prstGeom>
          <a:solidFill>
            <a:srgbClr val="FFF7F0"/>
          </a:solidFill>
          <a:ln w="7620">
            <a:solidFill>
              <a:srgbClr val="F4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4A5740-2D8B-E5DF-8C5C-B8F2F0227149}"/>
              </a:ext>
            </a:extLst>
          </p:cNvPr>
          <p:cNvSpPr txBox="1"/>
          <p:nvPr/>
        </p:nvSpPr>
        <p:spPr>
          <a:xfrm>
            <a:off x="1249099" y="5784359"/>
            <a:ext cx="14106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873A08"/>
                </a:solidFill>
                <a:latin typeface="DM Sans"/>
              </a:rPr>
              <a:t>Lectura para </a:t>
            </a:r>
            <a:r>
              <a:rPr sz="1050" b="1" dirty="0" err="1">
                <a:solidFill>
                  <a:srgbClr val="873A08"/>
                </a:solidFill>
                <a:latin typeface="DM Sans"/>
              </a:rPr>
              <a:t>negocio</a:t>
            </a:r>
            <a:r>
              <a:rPr sz="1050" b="1" dirty="0">
                <a:solidFill>
                  <a:srgbClr val="873A08"/>
                </a:solidFill>
                <a:latin typeface="DM Sans"/>
              </a:rPr>
              <a:t>: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97687F-FF27-A568-CF51-BCF1DC309563}"/>
              </a:ext>
            </a:extLst>
          </p:cNvPr>
          <p:cNvSpPr txBox="1"/>
          <p:nvPr/>
        </p:nvSpPr>
        <p:spPr>
          <a:xfrm>
            <a:off x="2745410" y="5784359"/>
            <a:ext cx="712053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5A5A5A"/>
                </a:solidFill>
                <a:latin typeface="DM Sans"/>
              </a:rPr>
              <a:t>el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score no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sustituye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la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decisión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;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ordena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clientes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por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riesgo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, valor y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coste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de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intervención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para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priorizar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 </a:t>
            </a:r>
            <a:r>
              <a:rPr sz="1050" b="0" dirty="0" err="1">
                <a:solidFill>
                  <a:srgbClr val="5A5A5A"/>
                </a:solidFill>
                <a:latin typeface="DM Sans"/>
              </a:rPr>
              <a:t>campañas</a:t>
            </a:r>
            <a:r>
              <a:rPr sz="1050" b="0" dirty="0">
                <a:solidFill>
                  <a:srgbClr val="5A5A5A"/>
                </a:solidFill>
                <a:latin typeface="DM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315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97" cy="68580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s-ES" sz="240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6029449-EE6E-0D69-43CE-D08DD7A48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567"/>
          <a:stretch>
            <a:fillRect/>
          </a:stretch>
        </p:blipFill>
        <p:spPr>
          <a:xfrm>
            <a:off x="6557465" y="137160"/>
            <a:ext cx="4980031" cy="658368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CAFE7A8-05B3-B6AD-DCDE-A2C43B99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496" b="9011"/>
          <a:stretch>
            <a:fillRect/>
          </a:stretch>
        </p:blipFill>
        <p:spPr>
          <a:xfrm>
            <a:off x="654506" y="1339136"/>
            <a:ext cx="4980031" cy="5368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512" y="518145"/>
            <a:ext cx="6782097" cy="562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5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Dashboard: Decision Making</a:t>
            </a:r>
            <a:endParaRPr lang="en-US" sz="3533" dirty="0"/>
          </a:p>
        </p:txBody>
      </p:sp>
    </p:spTree>
    <p:extLst>
      <p:ext uri="{BB962C8B-B14F-4D97-AF65-F5344CB8AC3E}">
        <p14:creationId xmlns:p14="http://schemas.microsoft.com/office/powerpoint/2010/main" val="299774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039205-85A8-F574-527B-DAA28D3BCB9A}"/>
              </a:ext>
            </a:extLst>
          </p:cNvPr>
          <p:cNvSpPr/>
          <p:nvPr/>
        </p:nvSpPr>
        <p:spPr>
          <a:xfrm>
            <a:off x="620217" y="487263"/>
            <a:ext cx="1289863" cy="325835"/>
          </a:xfrm>
          <a:prstGeom prst="roundRect">
            <a:avLst>
              <a:gd name="adj" fmla="val 652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45435F-FD2F-58C4-2977-0E99AF4AEC4D}"/>
              </a:ext>
            </a:extLst>
          </p:cNvPr>
          <p:cNvSpPr/>
          <p:nvPr/>
        </p:nvSpPr>
        <p:spPr>
          <a:xfrm>
            <a:off x="726480" y="540346"/>
            <a:ext cx="1061680" cy="18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06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</a:t>
            </a:r>
            <a:endParaRPr lang="en-US" sz="10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873A56-E9C1-A077-2598-416601C64A73}"/>
              </a:ext>
            </a:extLst>
          </p:cNvPr>
          <p:cNvSpPr/>
          <p:nvPr/>
        </p:nvSpPr>
        <p:spPr>
          <a:xfrm>
            <a:off x="620217" y="879475"/>
            <a:ext cx="10619879" cy="5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Recomendaciones</a:t>
            </a: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36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ejecutivas</a:t>
            </a: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y de </a:t>
            </a:r>
            <a:r>
              <a:rPr lang="en-US" sz="36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negocio</a:t>
            </a:r>
            <a:endParaRPr lang="en-US" sz="3600" dirty="0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E04AFB83-5F5C-E17E-3F59-20E505107586}"/>
              </a:ext>
            </a:extLst>
          </p:cNvPr>
          <p:cNvSpPr txBox="1"/>
          <p:nvPr/>
        </p:nvSpPr>
        <p:spPr>
          <a:xfrm>
            <a:off x="585217" y="1551432"/>
            <a:ext cx="821891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dirty="0">
                <a:solidFill>
                  <a:srgbClr val="5A5A5A"/>
                </a:solidFill>
                <a:latin typeface="Arial"/>
              </a:rPr>
              <a:t>La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analítica</a:t>
            </a:r>
            <a:r>
              <a:rPr sz="1100" dirty="0">
                <a:solidFill>
                  <a:srgbClr val="5A5A5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permite</a:t>
            </a:r>
            <a:r>
              <a:rPr sz="1100" dirty="0">
                <a:solidFill>
                  <a:srgbClr val="5A5A5A"/>
                </a:solidFill>
                <a:latin typeface="Arial"/>
              </a:rPr>
              <a:t> pasar de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campañas</a:t>
            </a:r>
            <a:r>
              <a:rPr sz="1100" dirty="0">
                <a:solidFill>
                  <a:srgbClr val="5A5A5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masivas</a:t>
            </a:r>
            <a:r>
              <a:rPr sz="1100" dirty="0">
                <a:solidFill>
                  <a:srgbClr val="5A5A5A"/>
                </a:solidFill>
                <a:latin typeface="Arial"/>
              </a:rPr>
              <a:t> a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decisiones</a:t>
            </a:r>
            <a:r>
              <a:rPr sz="1100" dirty="0">
                <a:solidFill>
                  <a:srgbClr val="5A5A5A"/>
                </a:solidFill>
                <a:latin typeface="Arial"/>
              </a:rPr>
              <a:t> de marketing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priorizadas</a:t>
            </a:r>
            <a:r>
              <a:rPr sz="1100" dirty="0">
                <a:solidFill>
                  <a:srgbClr val="5A5A5A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por</a:t>
            </a:r>
            <a:r>
              <a:rPr sz="1100" dirty="0">
                <a:solidFill>
                  <a:srgbClr val="5A5A5A"/>
                </a:solidFill>
                <a:latin typeface="Arial"/>
              </a:rPr>
              <a:t> valor,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riesgo</a:t>
            </a:r>
            <a:r>
              <a:rPr sz="1100" dirty="0">
                <a:solidFill>
                  <a:srgbClr val="5A5A5A"/>
                </a:solidFill>
                <a:latin typeface="Arial"/>
              </a:rPr>
              <a:t> y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coste</a:t>
            </a:r>
            <a:r>
              <a:rPr sz="1100" dirty="0">
                <a:solidFill>
                  <a:srgbClr val="5A5A5A"/>
                </a:solidFill>
                <a:latin typeface="Arial"/>
              </a:rPr>
              <a:t> de </a:t>
            </a:r>
            <a:r>
              <a:rPr sz="1100" dirty="0" err="1">
                <a:solidFill>
                  <a:srgbClr val="5A5A5A"/>
                </a:solidFill>
                <a:latin typeface="Arial"/>
              </a:rPr>
              <a:t>intervención</a:t>
            </a:r>
            <a:r>
              <a:rPr sz="1100" dirty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9D026A5-E705-6186-71A2-73D0D9428680}"/>
              </a:ext>
            </a:extLst>
          </p:cNvPr>
          <p:cNvSpPr/>
          <p:nvPr/>
        </p:nvSpPr>
        <p:spPr>
          <a:xfrm>
            <a:off x="585216" y="1880616"/>
            <a:ext cx="975360" cy="54864"/>
          </a:xfrm>
          <a:prstGeom prst="rect">
            <a:avLst/>
          </a:prstGeom>
          <a:solidFill>
            <a:srgbClr val="EB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/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1AD50138-0503-0FF3-0871-F84B3213D0FA}"/>
              </a:ext>
            </a:extLst>
          </p:cNvPr>
          <p:cNvSpPr/>
          <p:nvPr/>
        </p:nvSpPr>
        <p:spPr>
          <a:xfrm>
            <a:off x="866025" y="2620000"/>
            <a:ext cx="5059680" cy="1491591"/>
          </a:xfrm>
          <a:prstGeom prst="roundRect">
            <a:avLst/>
          </a:prstGeom>
          <a:solidFill>
            <a:srgbClr val="FAF8F6"/>
          </a:solidFill>
          <a:ln w="8890">
            <a:solidFill>
              <a:srgbClr val="E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D8A29354-C7AC-4A59-6BBE-3B5A1E8C520B}"/>
              </a:ext>
            </a:extLst>
          </p:cNvPr>
          <p:cNvSpPr/>
          <p:nvPr/>
        </p:nvSpPr>
        <p:spPr>
          <a:xfrm>
            <a:off x="1085481" y="2839457"/>
            <a:ext cx="402336" cy="40233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0BD1A828-7870-6B77-1A51-86FE6CE48CE6}"/>
              </a:ext>
            </a:extLst>
          </p:cNvPr>
          <p:cNvSpPr txBox="1"/>
          <p:nvPr/>
        </p:nvSpPr>
        <p:spPr>
          <a:xfrm>
            <a:off x="1621929" y="2802881"/>
            <a:ext cx="28264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dirty="0" err="1">
                <a:solidFill>
                  <a:srgbClr val="202020"/>
                </a:solidFill>
                <a:latin typeface="Georgia"/>
              </a:rPr>
              <a:t>Priorizar</a:t>
            </a:r>
            <a:r>
              <a:rPr sz="1600" dirty="0">
                <a:solidFill>
                  <a:srgbClr val="202020"/>
                </a:solidFill>
                <a:latin typeface="Georgia"/>
              </a:rPr>
              <a:t> </a:t>
            </a:r>
            <a:r>
              <a:rPr lang="es-ES" sz="1600" dirty="0">
                <a:solidFill>
                  <a:srgbClr val="202020"/>
                </a:solidFill>
                <a:latin typeface="Georgia"/>
              </a:rPr>
              <a:t>clientes </a:t>
            </a:r>
            <a:r>
              <a:rPr sz="1600" dirty="0">
                <a:solidFill>
                  <a:srgbClr val="202020"/>
                </a:solidFill>
                <a:latin typeface="Georgia"/>
              </a:rPr>
              <a:t>High-Value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624C9EEE-80C7-D41C-9E2B-D16DC0370D3F}"/>
              </a:ext>
            </a:extLst>
          </p:cNvPr>
          <p:cNvSpPr txBox="1"/>
          <p:nvPr/>
        </p:nvSpPr>
        <p:spPr>
          <a:xfrm>
            <a:off x="1621929" y="3180834"/>
            <a:ext cx="4011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A5A5A"/>
                </a:solidFill>
                <a:latin typeface="Arial"/>
              </a:rPr>
              <a:t>Actuar</a:t>
            </a:r>
            <a:r>
              <a:rPr sz="1200" dirty="0">
                <a:solidFill>
                  <a:srgbClr val="5A5A5A"/>
                </a:solidFill>
                <a:latin typeface="Arial"/>
              </a:rPr>
              <a:t> primero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sobre</a:t>
            </a:r>
            <a:r>
              <a:rPr sz="1200" dirty="0">
                <a:solidFill>
                  <a:srgbClr val="5A5A5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clientes</a:t>
            </a:r>
            <a:r>
              <a:rPr sz="1200" dirty="0">
                <a:solidFill>
                  <a:srgbClr val="5A5A5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valiosos</a:t>
            </a:r>
            <a:r>
              <a:rPr sz="1200" dirty="0">
                <a:solidFill>
                  <a:srgbClr val="5A5A5A"/>
                </a:solidFill>
                <a:latin typeface="Arial"/>
              </a:rPr>
              <a:t> con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señales</a:t>
            </a:r>
            <a:r>
              <a:rPr sz="1200" dirty="0">
                <a:solidFill>
                  <a:srgbClr val="5A5A5A"/>
                </a:solidFill>
                <a:latin typeface="Arial"/>
              </a:rPr>
              <a:t> de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abandono</a:t>
            </a:r>
            <a:r>
              <a:rPr sz="1200" dirty="0">
                <a:solidFill>
                  <a:srgbClr val="5A5A5A"/>
                </a:solidFill>
                <a:latin typeface="Arial"/>
              </a:rPr>
              <a:t>. Usar win-back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personalizado</a:t>
            </a:r>
            <a:r>
              <a:rPr sz="1200" dirty="0">
                <a:solidFill>
                  <a:srgbClr val="5A5A5A"/>
                </a:solidFill>
                <a:latin typeface="Arial"/>
              </a:rPr>
              <a:t> y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contacto</a:t>
            </a:r>
            <a:r>
              <a:rPr sz="1200" dirty="0">
                <a:solidFill>
                  <a:srgbClr val="5A5A5A"/>
                </a:solidFill>
                <a:latin typeface="Arial"/>
              </a:rPr>
              <a:t> CRM </a:t>
            </a:r>
            <a:r>
              <a:rPr sz="1200" dirty="0" err="1">
                <a:solidFill>
                  <a:srgbClr val="5A5A5A"/>
                </a:solidFill>
                <a:latin typeface="Arial"/>
              </a:rPr>
              <a:t>prioritario</a:t>
            </a:r>
            <a:r>
              <a:rPr sz="1200" dirty="0">
                <a:solidFill>
                  <a:srgbClr val="5A5A5A"/>
                </a:solidFill>
                <a:latin typeface="Arial"/>
              </a:rPr>
              <a:t>.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Retener VIP sin descuentos</a:t>
            </a:r>
            <a:endParaRPr sz="1200" dirty="0">
              <a:solidFill>
                <a:srgbClr val="5A5A5A"/>
              </a:solidFill>
              <a:latin typeface="Arial"/>
            </a:endParaRPr>
          </a:p>
        </p:txBody>
      </p:sp>
      <p:sp>
        <p:nvSpPr>
          <p:cNvPr id="29" name="Rounded Rectangle 9">
            <a:extLst>
              <a:ext uri="{FF2B5EF4-FFF2-40B4-BE49-F238E27FC236}">
                <a16:creationId xmlns:a16="http://schemas.microsoft.com/office/drawing/2014/main" id="{26EFFBE9-7E27-8B64-6F07-0333D7CCA42C}"/>
              </a:ext>
            </a:extLst>
          </p:cNvPr>
          <p:cNvSpPr/>
          <p:nvPr/>
        </p:nvSpPr>
        <p:spPr>
          <a:xfrm>
            <a:off x="6474345" y="2620001"/>
            <a:ext cx="5059680" cy="1491590"/>
          </a:xfrm>
          <a:prstGeom prst="roundRect">
            <a:avLst/>
          </a:prstGeom>
          <a:solidFill>
            <a:srgbClr val="FAF8F6"/>
          </a:solidFill>
          <a:ln w="8890">
            <a:solidFill>
              <a:srgbClr val="E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30" name="Oval 10">
            <a:extLst>
              <a:ext uri="{FF2B5EF4-FFF2-40B4-BE49-F238E27FC236}">
                <a16:creationId xmlns:a16="http://schemas.microsoft.com/office/drawing/2014/main" id="{D84F5193-7FF5-576D-C279-34FA615AE11C}"/>
              </a:ext>
            </a:extLst>
          </p:cNvPr>
          <p:cNvSpPr/>
          <p:nvPr/>
        </p:nvSpPr>
        <p:spPr>
          <a:xfrm>
            <a:off x="6693801" y="2839457"/>
            <a:ext cx="402336" cy="402336"/>
          </a:xfrm>
          <a:prstGeom prst="ellipse">
            <a:avLst/>
          </a:prstGeom>
          <a:solidFill>
            <a:srgbClr val="BC5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CE3F4D30-2E36-C51B-C3E0-F67EC6521D3E}"/>
              </a:ext>
            </a:extLst>
          </p:cNvPr>
          <p:cNvSpPr txBox="1"/>
          <p:nvPr/>
        </p:nvSpPr>
        <p:spPr>
          <a:xfrm>
            <a:off x="7230249" y="2802881"/>
            <a:ext cx="31438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solidFill>
                  <a:srgbClr val="202020"/>
                </a:solidFill>
                <a:latin typeface="Georgia"/>
              </a:rPr>
              <a:t>Modelo operativo: </a:t>
            </a:r>
            <a:r>
              <a:rPr lang="es-ES" sz="1600" dirty="0" err="1">
                <a:solidFill>
                  <a:srgbClr val="202020"/>
                </a:solidFill>
                <a:latin typeface="Georgia"/>
              </a:rPr>
              <a:t>Decision</a:t>
            </a:r>
            <a:r>
              <a:rPr lang="es-ES" sz="1600" dirty="0">
                <a:solidFill>
                  <a:srgbClr val="202020"/>
                </a:solidFill>
                <a:latin typeface="Georgia"/>
              </a:rPr>
              <a:t> Tree</a:t>
            </a: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439270CB-E066-3A7D-688B-BA7CB0B28D0C}"/>
              </a:ext>
            </a:extLst>
          </p:cNvPr>
          <p:cNvSpPr txBox="1"/>
          <p:nvPr/>
        </p:nvSpPr>
        <p:spPr>
          <a:xfrm>
            <a:off x="7230249" y="3180834"/>
            <a:ext cx="4011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rgbClr val="5A5A5A"/>
                </a:solidFill>
                <a:latin typeface="Arial"/>
              </a:rPr>
              <a:t>Usarlo por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recall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de Churn e interpretabilidad.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Logistic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Regression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queda como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baseline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probabilístico por su AUC.</a:t>
            </a:r>
          </a:p>
        </p:txBody>
      </p:sp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2268335B-A960-BF40-12F1-0AD8AF1C641E}"/>
              </a:ext>
            </a:extLst>
          </p:cNvPr>
          <p:cNvSpPr/>
          <p:nvPr/>
        </p:nvSpPr>
        <p:spPr>
          <a:xfrm>
            <a:off x="866025" y="4457219"/>
            <a:ext cx="5059680" cy="1491590"/>
          </a:xfrm>
          <a:prstGeom prst="roundRect">
            <a:avLst/>
          </a:prstGeom>
          <a:solidFill>
            <a:srgbClr val="FAF8F6"/>
          </a:solidFill>
          <a:ln w="8890">
            <a:solidFill>
              <a:srgbClr val="E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34" name="Oval 14">
            <a:extLst>
              <a:ext uri="{FF2B5EF4-FFF2-40B4-BE49-F238E27FC236}">
                <a16:creationId xmlns:a16="http://schemas.microsoft.com/office/drawing/2014/main" id="{6938DC4F-E42A-0D99-5F16-295ADB7CCF55}"/>
              </a:ext>
            </a:extLst>
          </p:cNvPr>
          <p:cNvSpPr/>
          <p:nvPr/>
        </p:nvSpPr>
        <p:spPr>
          <a:xfrm>
            <a:off x="1085481" y="4676675"/>
            <a:ext cx="402336" cy="402336"/>
          </a:xfrm>
          <a:prstGeom prst="ellipse">
            <a:avLst/>
          </a:prstGeom>
          <a:solidFill>
            <a:srgbClr val="EC7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05FAD8F9-493E-F22E-5E3C-BAE96F6BEEC2}"/>
              </a:ext>
            </a:extLst>
          </p:cNvPr>
          <p:cNvSpPr txBox="1"/>
          <p:nvPr/>
        </p:nvSpPr>
        <p:spPr>
          <a:xfrm>
            <a:off x="1621930" y="4640099"/>
            <a:ext cx="41104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solidFill>
                  <a:srgbClr val="202020"/>
                </a:solidFill>
                <a:latin typeface="Georgia"/>
              </a:rPr>
              <a:t>Actuar en clientes proyectados a recomprar</a:t>
            </a:r>
            <a:endParaRPr sz="1600" dirty="0">
              <a:solidFill>
                <a:srgbClr val="202020"/>
              </a:solidFill>
              <a:latin typeface="Georgia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044E8E8B-67A5-B1CC-8882-436B5AE86EEA}"/>
              </a:ext>
            </a:extLst>
          </p:cNvPr>
          <p:cNvSpPr txBox="1"/>
          <p:nvPr/>
        </p:nvSpPr>
        <p:spPr>
          <a:xfrm>
            <a:off x="1621929" y="5018051"/>
            <a:ext cx="4011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rgbClr val="5A5A5A"/>
                </a:solidFill>
                <a:latin typeface="Arial"/>
              </a:rPr>
              <a:t>Incitar una futura compra en clientes recurrentes.</a:t>
            </a:r>
          </a:p>
          <a:p>
            <a:r>
              <a:rPr lang="es-ES" sz="1200" dirty="0">
                <a:solidFill>
                  <a:srgbClr val="5A5A5A"/>
                </a:solidFill>
                <a:latin typeface="Arial"/>
              </a:rPr>
              <a:t>Promoción a clientes poco frecuentes pero de gran valor.</a:t>
            </a:r>
            <a:endParaRPr sz="1100" dirty="0">
              <a:solidFill>
                <a:srgbClr val="5A5A5A"/>
              </a:solidFill>
              <a:latin typeface="Arial"/>
            </a:endParaRPr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DAE3B47E-49BA-F46E-06F3-4AEBD679B33E}"/>
              </a:ext>
            </a:extLst>
          </p:cNvPr>
          <p:cNvSpPr/>
          <p:nvPr/>
        </p:nvSpPr>
        <p:spPr>
          <a:xfrm>
            <a:off x="6474345" y="4457218"/>
            <a:ext cx="5059680" cy="1491589"/>
          </a:xfrm>
          <a:prstGeom prst="roundRect">
            <a:avLst/>
          </a:prstGeom>
          <a:solidFill>
            <a:srgbClr val="FAF8F6"/>
          </a:solidFill>
          <a:ln w="8890">
            <a:solidFill>
              <a:srgbClr val="E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38" name="Oval 18">
            <a:extLst>
              <a:ext uri="{FF2B5EF4-FFF2-40B4-BE49-F238E27FC236}">
                <a16:creationId xmlns:a16="http://schemas.microsoft.com/office/drawing/2014/main" id="{9772F3A4-1E69-57E1-3D83-E52BE164CDFA}"/>
              </a:ext>
            </a:extLst>
          </p:cNvPr>
          <p:cNvSpPr/>
          <p:nvPr/>
        </p:nvSpPr>
        <p:spPr>
          <a:xfrm>
            <a:off x="6693801" y="4676675"/>
            <a:ext cx="402336" cy="40233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8D3C2FB3-27EF-B81C-AE0C-FAC1C0A65892}"/>
              </a:ext>
            </a:extLst>
          </p:cNvPr>
          <p:cNvSpPr txBox="1"/>
          <p:nvPr/>
        </p:nvSpPr>
        <p:spPr>
          <a:xfrm>
            <a:off x="7230249" y="4640099"/>
            <a:ext cx="24160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solidFill>
                  <a:srgbClr val="202020"/>
                </a:solidFill>
                <a:latin typeface="Georgia"/>
              </a:rPr>
              <a:t>Limitaciones del modelo</a:t>
            </a:r>
            <a:endParaRPr sz="1600" dirty="0">
              <a:solidFill>
                <a:srgbClr val="202020"/>
              </a:solidFill>
              <a:latin typeface="Georgia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933C55-BA7F-3ABA-E7DC-F36ED3A7851F}"/>
              </a:ext>
            </a:extLst>
          </p:cNvPr>
          <p:cNvSpPr txBox="1"/>
          <p:nvPr/>
        </p:nvSpPr>
        <p:spPr>
          <a:xfrm>
            <a:off x="7230249" y="5018051"/>
            <a:ext cx="409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5A5A5A"/>
                </a:solidFill>
                <a:latin typeface="Arial"/>
              </a:rPr>
              <a:t>Churn definido con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cutoff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temporal y ventana futura de 90 días; posible </a:t>
            </a:r>
            <a:r>
              <a:rPr lang="es-ES" sz="1200" dirty="0" err="1">
                <a:solidFill>
                  <a:srgbClr val="5A5A5A"/>
                </a:solidFill>
                <a:latin typeface="Arial"/>
              </a:rPr>
              <a:t>drift</a:t>
            </a:r>
            <a:r>
              <a:rPr lang="es-ES" sz="1200" dirty="0">
                <a:solidFill>
                  <a:srgbClr val="5A5A5A"/>
                </a:solidFill>
                <a:latin typeface="Arial"/>
              </a:rPr>
              <a:t> temporal. Resultados útiles para priorizar, no para automatizar decisiones sin revisión.</a:t>
            </a:r>
          </a:p>
        </p:txBody>
      </p:sp>
    </p:spTree>
    <p:extLst>
      <p:ext uri="{BB962C8B-B14F-4D97-AF65-F5344CB8AC3E}">
        <p14:creationId xmlns:p14="http://schemas.microsoft.com/office/powerpoint/2010/main" val="291967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1646</Words>
  <Application>Microsoft Office PowerPoint</Application>
  <PresentationFormat>Panorámica</PresentationFormat>
  <Paragraphs>293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Aleo</vt:lpstr>
      <vt:lpstr>Aptos</vt:lpstr>
      <vt:lpstr>Aptos Display</vt:lpstr>
      <vt:lpstr>Arial</vt:lpstr>
      <vt:lpstr>Calibri</vt:lpstr>
      <vt:lpstr>DM Sans</vt:lpstr>
      <vt:lpstr>Georgia</vt:lpstr>
      <vt:lpstr>PT 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ROQUES SANCHEZ</dc:creator>
  <cp:lastModifiedBy>ANDRES ROQUES SANCHEZ</cp:lastModifiedBy>
  <cp:revision>5</cp:revision>
  <dcterms:created xsi:type="dcterms:W3CDTF">2026-05-18T14:44:09Z</dcterms:created>
  <dcterms:modified xsi:type="dcterms:W3CDTF">2026-05-18T20:58:44Z</dcterms:modified>
</cp:coreProperties>
</file>