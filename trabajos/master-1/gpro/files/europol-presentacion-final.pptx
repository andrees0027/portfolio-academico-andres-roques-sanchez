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"/>
  </p:notesMasterIdLst>
  <p:sldIdLst>
    <p:sldId id="256" r:id="rId2"/>
    <p:sldId id="279" r:id="rId3"/>
    <p:sldId id="283" r:id="rId4"/>
    <p:sldId id="284" r:id="rId5"/>
    <p:sldId id="285" r:id="rId6"/>
    <p:sldId id="286" r:id="rId7"/>
    <p:sldId id="288" r:id="rId8"/>
    <p:sldId id="289" r:id="rId9"/>
    <p:sldId id="275" r:id="rId10"/>
  </p:sldIdLst>
  <p:sldSz cx="9144000" cy="5143500" type="screen16x9"/>
  <p:notesSz cx="6858000" cy="9144000"/>
  <p:embeddedFontLst>
    <p:embeddedFont>
      <p:font typeface="Blinker" panose="020B0604020202020204" charset="0"/>
      <p:regular r:id="rId12"/>
      <p:bold r:id="rId13"/>
    </p:embeddedFont>
    <p:embeddedFont>
      <p:font typeface="Raleway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4AE895-AD04-B1E2-8740-63A395FD2E24}" v="2" dt="2024-11-02T21:09:03.871"/>
  </p1510:revLst>
</p1510:revInfo>
</file>

<file path=ppt/tableStyles.xml><?xml version="1.0" encoding="utf-8"?>
<a:tblStyleLst xmlns:a="http://schemas.openxmlformats.org/drawingml/2006/main" def="{27B4C543-1491-42D8-8151-47F7141BEC34}">
  <a:tblStyle styleId="{27B4C543-1491-42D8-8151-47F7141BEC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EEF3218-37BA-426E-8477-F295CD4BE0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SANCHEZ RECUERO" userId="S::guillermo.sanchez.recuero@alumnos.upm.es::bdc074a1-04dd-4c83-b49f-d742f5b5559b" providerId="AD" clId="Web-{B636FBC5-3B2C-943E-2A3F-7B5A0A9CBF53}"/>
    <pc:docChg chg="addSld delSld modSld sldOrd">
      <pc:chgData name="GUILLERMO SANCHEZ RECUERO" userId="S::guillermo.sanchez.recuero@alumnos.upm.es::bdc074a1-04dd-4c83-b49f-d742f5b5559b" providerId="AD" clId="Web-{B636FBC5-3B2C-943E-2A3F-7B5A0A9CBF53}" dt="2024-09-30T21:10:17.324" v="48"/>
      <pc:docMkLst>
        <pc:docMk/>
      </pc:docMkLst>
      <pc:sldChg chg="modSp">
        <pc:chgData name="GUILLERMO SANCHEZ RECUERO" userId="S::guillermo.sanchez.recuero@alumnos.upm.es::bdc074a1-04dd-4c83-b49f-d742f5b5559b" providerId="AD" clId="Web-{B636FBC5-3B2C-943E-2A3F-7B5A0A9CBF53}" dt="2024-09-30T20:30:45.953" v="1" actId="20577"/>
        <pc:sldMkLst>
          <pc:docMk/>
          <pc:sldMk cId="0" sldId="256"/>
        </pc:sldMkLst>
        <pc:spChg chg="mod">
          <ac:chgData name="GUILLERMO SANCHEZ RECUERO" userId="S::guillermo.sanchez.recuero@alumnos.upm.es::bdc074a1-04dd-4c83-b49f-d742f5b5559b" providerId="AD" clId="Web-{B636FBC5-3B2C-943E-2A3F-7B5A0A9CBF53}" dt="2024-09-30T20:30:45.953" v="1" actId="20577"/>
          <ac:spMkLst>
            <pc:docMk/>
            <pc:sldMk cId="0" sldId="256"/>
            <ac:spMk id="137" creationId="{00000000-0000-0000-0000-000000000000}"/>
          </ac:spMkLst>
        </pc:spChg>
      </pc:sldChg>
      <pc:sldChg chg="modSp">
        <pc:chgData name="GUILLERMO SANCHEZ RECUERO" userId="S::guillermo.sanchez.recuero@alumnos.upm.es::bdc074a1-04dd-4c83-b49f-d742f5b5559b" providerId="AD" clId="Web-{B636FBC5-3B2C-943E-2A3F-7B5A0A9CBF53}" dt="2024-09-30T20:35:27.650" v="23" actId="20577"/>
        <pc:sldMkLst>
          <pc:docMk/>
          <pc:sldMk cId="0" sldId="261"/>
        </pc:sldMkLst>
        <pc:spChg chg="mod">
          <ac:chgData name="GUILLERMO SANCHEZ RECUERO" userId="S::guillermo.sanchez.recuero@alumnos.upm.es::bdc074a1-04dd-4c83-b49f-d742f5b5559b" providerId="AD" clId="Web-{B636FBC5-3B2C-943E-2A3F-7B5A0A9CBF53}" dt="2024-09-30T20:35:27.650" v="23" actId="20577"/>
          <ac:spMkLst>
            <pc:docMk/>
            <pc:sldMk cId="0" sldId="261"/>
            <ac:spMk id="193" creationId="{00000000-0000-0000-0000-000000000000}"/>
          </ac:spMkLst>
        </pc:spChg>
      </pc:sldChg>
      <pc:sldChg chg="modSp">
        <pc:chgData name="GUILLERMO SANCHEZ RECUERO" userId="S::guillermo.sanchez.recuero@alumnos.upm.es::bdc074a1-04dd-4c83-b49f-d742f5b5559b" providerId="AD" clId="Web-{B636FBC5-3B2C-943E-2A3F-7B5A0A9CBF53}" dt="2024-09-30T20:59:44.054" v="40" actId="20577"/>
        <pc:sldMkLst>
          <pc:docMk/>
          <pc:sldMk cId="0" sldId="263"/>
        </pc:sldMkLst>
        <pc:spChg chg="mod">
          <ac:chgData name="GUILLERMO SANCHEZ RECUERO" userId="S::guillermo.sanchez.recuero@alumnos.upm.es::bdc074a1-04dd-4c83-b49f-d742f5b5559b" providerId="AD" clId="Web-{B636FBC5-3B2C-943E-2A3F-7B5A0A9CBF53}" dt="2024-09-30T20:57:25.847" v="33" actId="20577"/>
          <ac:spMkLst>
            <pc:docMk/>
            <pc:sldMk cId="0" sldId="263"/>
            <ac:spMk id="272" creationId="{00000000-0000-0000-0000-000000000000}"/>
          </ac:spMkLst>
        </pc:spChg>
        <pc:spChg chg="mod">
          <ac:chgData name="GUILLERMO SANCHEZ RECUERO" userId="S::guillermo.sanchez.recuero@alumnos.upm.es::bdc074a1-04dd-4c83-b49f-d742f5b5559b" providerId="AD" clId="Web-{B636FBC5-3B2C-943E-2A3F-7B5A0A9CBF53}" dt="2024-09-30T20:59:44.054" v="40" actId="20577"/>
          <ac:spMkLst>
            <pc:docMk/>
            <pc:sldMk cId="0" sldId="263"/>
            <ac:spMk id="277" creationId="{00000000-0000-0000-0000-000000000000}"/>
          </ac:spMkLst>
        </pc:spChg>
      </pc:sldChg>
      <pc:sldChg chg="modSp add del ord replId">
        <pc:chgData name="GUILLERMO SANCHEZ RECUERO" userId="S::guillermo.sanchez.recuero@alumnos.upm.es::bdc074a1-04dd-4c83-b49f-d742f5b5559b" providerId="AD" clId="Web-{B636FBC5-3B2C-943E-2A3F-7B5A0A9CBF53}" dt="2024-09-30T21:10:17.324" v="48"/>
        <pc:sldMkLst>
          <pc:docMk/>
          <pc:sldMk cId="3050330269" sldId="276"/>
        </pc:sldMkLst>
        <pc:spChg chg="mod">
          <ac:chgData name="GUILLERMO SANCHEZ RECUERO" userId="S::guillermo.sanchez.recuero@alumnos.upm.es::bdc074a1-04dd-4c83-b49f-d742f5b5559b" providerId="AD" clId="Web-{B636FBC5-3B2C-943E-2A3F-7B5A0A9CBF53}" dt="2024-09-30T21:09:38.916" v="47" actId="20577"/>
          <ac:spMkLst>
            <pc:docMk/>
            <pc:sldMk cId="3050330269" sldId="276"/>
            <ac:spMk id="326" creationId="{00000000-0000-0000-0000-000000000000}"/>
          </ac:spMkLst>
        </pc:spChg>
      </pc:sldChg>
    </pc:docChg>
  </pc:docChgLst>
  <pc:docChgLst>
    <pc:chgData name="GUILLERMO SANCHEZ RECUERO" userId="S::guillermo.sanchez.recuero@alumnos.upm.es::bdc074a1-04dd-4c83-b49f-d742f5b5559b" providerId="AD" clId="Web-{F497B5E9-4999-899C-3773-67642D6282E1}"/>
    <pc:docChg chg="modSld">
      <pc:chgData name="GUILLERMO SANCHEZ RECUERO" userId="S::guillermo.sanchez.recuero@alumnos.upm.es::bdc074a1-04dd-4c83-b49f-d742f5b5559b" providerId="AD" clId="Web-{F497B5E9-4999-899C-3773-67642D6282E1}" dt="2024-10-01T09:32:07.502" v="4" actId="20577"/>
      <pc:docMkLst>
        <pc:docMk/>
      </pc:docMkLst>
      <pc:sldChg chg="modSp">
        <pc:chgData name="GUILLERMO SANCHEZ RECUERO" userId="S::guillermo.sanchez.recuero@alumnos.upm.es::bdc074a1-04dd-4c83-b49f-d742f5b5559b" providerId="AD" clId="Web-{F497B5E9-4999-899C-3773-67642D6282E1}" dt="2024-10-01T09:32:03.705" v="2" actId="20577"/>
        <pc:sldMkLst>
          <pc:docMk/>
          <pc:sldMk cId="0" sldId="256"/>
        </pc:sldMkLst>
        <pc:spChg chg="mod">
          <ac:chgData name="GUILLERMO SANCHEZ RECUERO" userId="S::guillermo.sanchez.recuero@alumnos.upm.es::bdc074a1-04dd-4c83-b49f-d742f5b5559b" providerId="AD" clId="Web-{F497B5E9-4999-899C-3773-67642D6282E1}" dt="2024-10-01T09:32:03.705" v="2" actId="20577"/>
          <ac:spMkLst>
            <pc:docMk/>
            <pc:sldMk cId="0" sldId="256"/>
            <ac:spMk id="137" creationId="{00000000-0000-0000-0000-000000000000}"/>
          </ac:spMkLst>
        </pc:spChg>
      </pc:sldChg>
      <pc:sldChg chg="modSp">
        <pc:chgData name="GUILLERMO SANCHEZ RECUERO" userId="S::guillermo.sanchez.recuero@alumnos.upm.es::bdc074a1-04dd-4c83-b49f-d742f5b5559b" providerId="AD" clId="Web-{F497B5E9-4999-899C-3773-67642D6282E1}" dt="2024-10-01T09:32:07.502" v="4" actId="20577"/>
        <pc:sldMkLst>
          <pc:docMk/>
          <pc:sldMk cId="0" sldId="268"/>
        </pc:sldMkLst>
        <pc:spChg chg="mod">
          <ac:chgData name="GUILLERMO SANCHEZ RECUERO" userId="S::guillermo.sanchez.recuero@alumnos.upm.es::bdc074a1-04dd-4c83-b49f-d742f5b5559b" providerId="AD" clId="Web-{F497B5E9-4999-899C-3773-67642D6282E1}" dt="2024-10-01T09:32:07.502" v="4" actId="20577"/>
          <ac:spMkLst>
            <pc:docMk/>
            <pc:sldMk cId="0" sldId="268"/>
            <ac:spMk id="335" creationId="{00000000-0000-0000-0000-000000000000}"/>
          </ac:spMkLst>
        </pc:spChg>
      </pc:sldChg>
    </pc:docChg>
  </pc:docChgLst>
  <pc:docChgLst>
    <pc:chgData name="ANDRES ROQUES SANCHEZ" userId="S::andres.roques@alumnos.upm.es::ccf8582d-5392-42a6-8236-b1fece234554" providerId="AD" clId="Web-{F14AE895-AD04-B1E2-8740-63A395FD2E24}"/>
    <pc:docChg chg="modSld">
      <pc:chgData name="ANDRES ROQUES SANCHEZ" userId="S::andres.roques@alumnos.upm.es::ccf8582d-5392-42a6-8236-b1fece234554" providerId="AD" clId="Web-{F14AE895-AD04-B1E2-8740-63A395FD2E24}" dt="2024-11-02T21:09:03.871" v="1" actId="20577"/>
      <pc:docMkLst>
        <pc:docMk/>
      </pc:docMkLst>
      <pc:sldChg chg="modSp">
        <pc:chgData name="ANDRES ROQUES SANCHEZ" userId="S::andres.roques@alumnos.upm.es::ccf8582d-5392-42a6-8236-b1fece234554" providerId="AD" clId="Web-{F14AE895-AD04-B1E2-8740-63A395FD2E24}" dt="2024-11-02T21:09:03.871" v="1" actId="20577"/>
        <pc:sldMkLst>
          <pc:docMk/>
          <pc:sldMk cId="0" sldId="256"/>
        </pc:sldMkLst>
        <pc:spChg chg="mod">
          <ac:chgData name="ANDRES ROQUES SANCHEZ" userId="S::andres.roques@alumnos.upm.es::ccf8582d-5392-42a6-8236-b1fece234554" providerId="AD" clId="Web-{F14AE895-AD04-B1E2-8740-63A395FD2E24}" dt="2024-11-02T21:09:03.871" v="1" actId="20577"/>
          <ac:spMkLst>
            <pc:docMk/>
            <pc:sldMk cId="0" sldId="256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9D18BFC8-59B0-75CF-3B0F-6E026B72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4_2701:notes">
            <a:extLst>
              <a:ext uri="{FF2B5EF4-FFF2-40B4-BE49-F238E27FC236}">
                <a16:creationId xmlns:a16="http://schemas.microsoft.com/office/drawing/2014/main" id="{A914E0DA-07E0-1A4F-C248-2FB809A67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4_2701:notes">
            <a:extLst>
              <a:ext uri="{FF2B5EF4-FFF2-40B4-BE49-F238E27FC236}">
                <a16:creationId xmlns:a16="http://schemas.microsoft.com/office/drawing/2014/main" id="{E44F2B03-B592-2E04-7A61-42C249858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173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7D57687E-268F-3A01-1E9D-EF1DDA76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4_2701:notes">
            <a:extLst>
              <a:ext uri="{FF2B5EF4-FFF2-40B4-BE49-F238E27FC236}">
                <a16:creationId xmlns:a16="http://schemas.microsoft.com/office/drawing/2014/main" id="{20D2A1EF-3B23-7B0F-900B-08C6BB334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4_2701:notes">
            <a:extLst>
              <a:ext uri="{FF2B5EF4-FFF2-40B4-BE49-F238E27FC236}">
                <a16:creationId xmlns:a16="http://schemas.microsoft.com/office/drawing/2014/main" id="{B5AAB100-4433-991D-7A6D-4B82E753B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384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92A1F827-E6D6-B5C5-6F08-80344ADF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4_2701:notes">
            <a:extLst>
              <a:ext uri="{FF2B5EF4-FFF2-40B4-BE49-F238E27FC236}">
                <a16:creationId xmlns:a16="http://schemas.microsoft.com/office/drawing/2014/main" id="{D615FE95-B644-2F34-1A40-DD6C6CA29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4_2701:notes">
            <a:extLst>
              <a:ext uri="{FF2B5EF4-FFF2-40B4-BE49-F238E27FC236}">
                <a16:creationId xmlns:a16="http://schemas.microsoft.com/office/drawing/2014/main" id="{ECEF8A16-3C81-8A4E-C355-08C9C0038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17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6A1E5683-B028-2A56-0F9D-C976042F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4_2701:notes">
            <a:extLst>
              <a:ext uri="{FF2B5EF4-FFF2-40B4-BE49-F238E27FC236}">
                <a16:creationId xmlns:a16="http://schemas.microsoft.com/office/drawing/2014/main" id="{C08303B8-0507-0370-CF68-99F74886B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4_2701:notes">
            <a:extLst>
              <a:ext uri="{FF2B5EF4-FFF2-40B4-BE49-F238E27FC236}">
                <a16:creationId xmlns:a16="http://schemas.microsoft.com/office/drawing/2014/main" id="{EE3EDCA9-BCF7-85A1-259F-4AB9D1CA6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64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7EE5933D-21DA-8396-2B22-577BC3C8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4dda1946d_6_332:notes">
            <a:extLst>
              <a:ext uri="{FF2B5EF4-FFF2-40B4-BE49-F238E27FC236}">
                <a16:creationId xmlns:a16="http://schemas.microsoft.com/office/drawing/2014/main" id="{FEED72A4-761A-CD67-4947-3AA98FD834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4dda1946d_6_332:notes">
            <a:extLst>
              <a:ext uri="{FF2B5EF4-FFF2-40B4-BE49-F238E27FC236}">
                <a16:creationId xmlns:a16="http://schemas.microsoft.com/office/drawing/2014/main" id="{B9C0865C-0167-B7E1-373A-CA00ACAC9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662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04D172B-8E6E-0AD1-68CD-DD867E51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4_2701:notes">
            <a:extLst>
              <a:ext uri="{FF2B5EF4-FFF2-40B4-BE49-F238E27FC236}">
                <a16:creationId xmlns:a16="http://schemas.microsoft.com/office/drawing/2014/main" id="{9C02FA5D-5986-DFC5-FD07-69C27F365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4_2701:notes">
            <a:extLst>
              <a:ext uri="{FF2B5EF4-FFF2-40B4-BE49-F238E27FC236}">
                <a16:creationId xmlns:a16="http://schemas.microsoft.com/office/drawing/2014/main" id="{94C866E7-C46C-D61E-DFDD-C5CF6F56A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6564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655C9B30-4812-586B-1EA3-791C4629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54dda1946d_4_2701:notes">
            <a:extLst>
              <a:ext uri="{FF2B5EF4-FFF2-40B4-BE49-F238E27FC236}">
                <a16:creationId xmlns:a16="http://schemas.microsoft.com/office/drawing/2014/main" id="{DC1CC516-3CA6-F13E-7E6D-FC5407B17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54dda1946d_4_2701:notes">
            <a:extLst>
              <a:ext uri="{FF2B5EF4-FFF2-40B4-BE49-F238E27FC236}">
                <a16:creationId xmlns:a16="http://schemas.microsoft.com/office/drawing/2014/main" id="{FF7182F4-DCB0-5A22-389A-39D769882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129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80100" y="2289700"/>
            <a:ext cx="65838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Blinker"/>
                <a:ea typeface="Blinker"/>
                <a:cs typeface="Blinker"/>
                <a:sym typeface="Blink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07675" y="39355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5590492" y="2497399"/>
            <a:ext cx="26517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1685976" y="2497399"/>
            <a:ext cx="26517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1685976" y="2040204"/>
            <a:ext cx="2651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5590494" y="2040204"/>
            <a:ext cx="2651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271750" y="212400"/>
            <a:ext cx="8577900" cy="4718700"/>
          </a:xfrm>
          <a:prstGeom prst="roundRect">
            <a:avLst>
              <a:gd name="adj" fmla="val 40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1"/>
          </p:nvPr>
        </p:nvSpPr>
        <p:spPr>
          <a:xfrm>
            <a:off x="2347900" y="1516409"/>
            <a:ext cx="44481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2574425" y="3611950"/>
            <a:ext cx="3995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Blinker"/>
                <a:ea typeface="Blinker"/>
                <a:cs typeface="Blinker"/>
                <a:sym typeface="Blinker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 </a:t>
            </a:r>
            <a:endParaRPr sz="1000" b="1" u="sng">
              <a:solidFill>
                <a:schemeClr val="dk1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/>
          <p:nvPr/>
        </p:nvSpPr>
        <p:spPr>
          <a:xfrm>
            <a:off x="271750" y="212400"/>
            <a:ext cx="8600700" cy="4718700"/>
          </a:xfrm>
          <a:prstGeom prst="roundRect">
            <a:avLst>
              <a:gd name="adj" fmla="val 37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ctrTitle"/>
          </p:nvPr>
        </p:nvSpPr>
        <p:spPr>
          <a:xfrm>
            <a:off x="728768" y="2403880"/>
            <a:ext cx="7899591" cy="1744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4000" dirty="0"/>
              <a:t> </a:t>
            </a:r>
            <a:r>
              <a:rPr lang="es-ES" sz="4000" dirty="0"/>
              <a:t>CONTRATO EUROPOL:</a:t>
            </a:r>
            <a:br>
              <a:rPr lang="es-ES" sz="4000" dirty="0"/>
            </a:br>
            <a:r>
              <a:rPr lang="es-ES" sz="4000" dirty="0"/>
              <a:t>CONSOLIDACIÓN DEL CENTRO</a:t>
            </a:r>
            <a:br>
              <a:rPr lang="es-ES" sz="4000" dirty="0"/>
            </a:br>
            <a:r>
              <a:rPr lang="es-ES" sz="4000" dirty="0"/>
              <a:t>DE COORDINACIÓN</a:t>
            </a: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999" y="58525"/>
            <a:ext cx="3860152" cy="21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8838FF6D-A2A1-1F35-23FC-19CF2A31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>
            <a:extLst>
              <a:ext uri="{FF2B5EF4-FFF2-40B4-BE49-F238E27FC236}">
                <a16:creationId xmlns:a16="http://schemas.microsoft.com/office/drawing/2014/main" id="{5439B6A1-B4D6-D462-8524-85E4EB095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127" y="414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Estado del proyecto y objetivos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179E04-EE1C-2601-57D4-85E46147540B}"/>
              </a:ext>
            </a:extLst>
          </p:cNvPr>
          <p:cNvSpPr txBox="1"/>
          <p:nvPr/>
        </p:nvSpPr>
        <p:spPr>
          <a:xfrm>
            <a:off x="646682" y="1314955"/>
            <a:ext cx="78506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Puntos importantes del proyecto en su finalización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Alcance completado, producto de calidad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Retraso de 45 días laborables debido a problemas externos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 Sobrecostos asumidos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Errores en la planificación detectados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Evidencia de las decisiones acertadas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Balance y aprendizaje de los errores/aciertos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Conclusiones y experiencias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</p:txBody>
      </p:sp>
      <p:pic>
        <p:nvPicPr>
          <p:cNvPr id="1026" name="Picture 2" descr="Qué es la triple restricción en la gestión de proyectos?">
            <a:extLst>
              <a:ext uri="{FF2B5EF4-FFF2-40B4-BE49-F238E27FC236}">
                <a16:creationId xmlns:a16="http://schemas.microsoft.com/office/drawing/2014/main" id="{E71B1972-0CA1-9144-7E6E-8E4780DD59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3" t="11680" r="17862" b="6538"/>
          <a:stretch/>
        </p:blipFill>
        <p:spPr bwMode="auto">
          <a:xfrm>
            <a:off x="6026292" y="1390380"/>
            <a:ext cx="2445835" cy="216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lustración de Signo De Exclamación En Triángulo Con Fondo Amarillo Icono  De Vector y más Vectores Libres de Derechos de Amarillo - Color - iStock">
            <a:extLst>
              <a:ext uri="{FF2B5EF4-FFF2-40B4-BE49-F238E27FC236}">
                <a16:creationId xmlns:a16="http://schemas.microsoft.com/office/drawing/2014/main" id="{F3521630-E241-4F16-E2F0-842164C07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934" y="1595804"/>
            <a:ext cx="290188" cy="29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ick PNG para descargar gratis">
            <a:extLst>
              <a:ext uri="{FF2B5EF4-FFF2-40B4-BE49-F238E27FC236}">
                <a16:creationId xmlns:a16="http://schemas.microsoft.com/office/drawing/2014/main" id="{D8049B8D-D254-4B01-9586-D6EB44B0E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934" y="3109610"/>
            <a:ext cx="488480" cy="32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8" descr="Ilustración de Signo De Exclamación En Triángulo Con Fondo Amarillo Icono  De Vector y más Vectores Libres de Derechos de Amarillo - Color - iStock">
            <a:extLst>
              <a:ext uri="{FF2B5EF4-FFF2-40B4-BE49-F238E27FC236}">
                <a16:creationId xmlns:a16="http://schemas.microsoft.com/office/drawing/2014/main" id="{88842E8D-451B-77D9-6760-C7B0D8F3D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574" y="2505124"/>
            <a:ext cx="290188" cy="29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140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B4914BE-2DB9-9ECC-FD5D-8C0A15C9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>
            <a:extLst>
              <a:ext uri="{FF2B5EF4-FFF2-40B4-BE49-F238E27FC236}">
                <a16:creationId xmlns:a16="http://schemas.microsoft.com/office/drawing/2014/main" id="{1F12DA61-B04A-E1A6-0A2C-0FD872F02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127" y="414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Alcance del proyecto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78F865-6115-B9BA-2481-B31A0D875648}"/>
              </a:ext>
            </a:extLst>
          </p:cNvPr>
          <p:cNvSpPr txBox="1"/>
          <p:nvPr/>
        </p:nvSpPr>
        <p:spPr>
          <a:xfrm>
            <a:off x="646682" y="1314955"/>
            <a:ext cx="785063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Objetivos definidos: 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Configuración de un sistema GIS funcional.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Integración del producto con sistemas existentes.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Formación del personal del cliente.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Entrega del producto de calidad a tiempo.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Objetivos cumplidos: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Alcance cumplido en su totalidad, aunque ha requerido de una gestión exhaustiva para mitigar los impactos de estos cambios no planificados. 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</p:txBody>
      </p:sp>
      <p:pic>
        <p:nvPicPr>
          <p:cNvPr id="3" name="Picture 2" descr="Qué es la triple restricción en la gestión de proyectos?">
            <a:extLst>
              <a:ext uri="{FF2B5EF4-FFF2-40B4-BE49-F238E27FC236}">
                <a16:creationId xmlns:a16="http://schemas.microsoft.com/office/drawing/2014/main" id="{44959A93-E8B1-3434-9509-A3A003856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34" t="64549" r="19338" b="11834"/>
          <a:stretch/>
        </p:blipFill>
        <p:spPr bwMode="auto">
          <a:xfrm>
            <a:off x="7178041" y="1112520"/>
            <a:ext cx="108966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11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C3DE4B0F-3D1C-23D9-B00B-9F209823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>
            <a:extLst>
              <a:ext uri="{FF2B5EF4-FFF2-40B4-BE49-F238E27FC236}">
                <a16:creationId xmlns:a16="http://schemas.microsoft.com/office/drawing/2014/main" id="{B2FBD01F-0044-7C17-B908-1EA8507B4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127" y="414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Tiempo de ejecución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DD4F5E-8C07-11CE-3209-8D02737E25EE}"/>
              </a:ext>
            </a:extLst>
          </p:cNvPr>
          <p:cNvSpPr txBox="1"/>
          <p:nvPr/>
        </p:nvSpPr>
        <p:spPr>
          <a:xfrm>
            <a:off x="694809" y="1112520"/>
            <a:ext cx="785063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Retraso provocado por contingencias. 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Cronograma inicial: 5 meses, con fecha final el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10 de abril de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Cronograma real: 7 meses, con fecha final el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13 de junio de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Retraso experimentado: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45 días laborables (9 semanas)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Factores contribuyentes al retraso: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Auditorías internas,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+3 semanas</a:t>
            </a: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 (garantizar calidad y normativas específicas).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Revisión y mejora de procesos técnicos críticos.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Coordinación con proveedores externos.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Resultado: </a:t>
            </a: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Blinker"/>
                <a:sym typeface="Blinker"/>
              </a:rPr>
              <a:t>Retrasos asumidos</a:t>
            </a: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 para la </a:t>
            </a: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Blinker"/>
                <a:sym typeface="Blinker"/>
              </a:rPr>
              <a:t>aseguración de la calidad </a:t>
            </a: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del producto final. </a:t>
            </a:r>
          </a:p>
        </p:txBody>
      </p:sp>
      <p:pic>
        <p:nvPicPr>
          <p:cNvPr id="5" name="Picture 2" descr="Qué es la triple restricción en la gestión de proyectos?">
            <a:extLst>
              <a:ext uri="{FF2B5EF4-FFF2-40B4-BE49-F238E27FC236}">
                <a16:creationId xmlns:a16="http://schemas.microsoft.com/office/drawing/2014/main" id="{9CD4596A-4B85-498C-9E90-C93736EA63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51" t="12592" r="42921" b="63791"/>
          <a:stretch/>
        </p:blipFill>
        <p:spPr bwMode="auto">
          <a:xfrm>
            <a:off x="7178041" y="1112520"/>
            <a:ext cx="108966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Qué es la triple restricción en la gestión de proyectos?">
            <a:extLst>
              <a:ext uri="{FF2B5EF4-FFF2-40B4-BE49-F238E27FC236}">
                <a16:creationId xmlns:a16="http://schemas.microsoft.com/office/drawing/2014/main" id="{501D2623-1932-44E2-947E-D5FEF4157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1" t="12735" r="64321" b="63648"/>
          <a:stretch/>
        </p:blipFill>
        <p:spPr bwMode="auto">
          <a:xfrm>
            <a:off x="8047551" y="2110339"/>
            <a:ext cx="449766" cy="51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Qué es la triple restricción en la gestión de proyectos?">
            <a:extLst>
              <a:ext uri="{FF2B5EF4-FFF2-40B4-BE49-F238E27FC236}">
                <a16:creationId xmlns:a16="http://schemas.microsoft.com/office/drawing/2014/main" id="{4C41EF3A-C9C7-B031-7383-12A828EC14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1" t="12735" r="64321" b="63648"/>
          <a:stretch/>
        </p:blipFill>
        <p:spPr bwMode="auto">
          <a:xfrm>
            <a:off x="6907947" y="2106037"/>
            <a:ext cx="449766" cy="51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29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8F0CE798-ED3E-3DCF-1C91-13E8317A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>
            <a:extLst>
              <a:ext uri="{FF2B5EF4-FFF2-40B4-BE49-F238E27FC236}">
                <a16:creationId xmlns:a16="http://schemas.microsoft.com/office/drawing/2014/main" id="{30752E3B-98F6-0D25-B192-F26DC3600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127" y="414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Coste y beneficio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21EE50-F4E8-9602-89CE-F4133BAEF841}"/>
              </a:ext>
            </a:extLst>
          </p:cNvPr>
          <p:cNvSpPr txBox="1"/>
          <p:nvPr/>
        </p:nvSpPr>
        <p:spPr>
          <a:xfrm>
            <a:off x="646682" y="1314955"/>
            <a:ext cx="78506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Desviaciones presupuestarias de impacto negativo. 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Presupuesto inicial: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117.862,89 €</a:t>
            </a:r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Costo real (+22,47%* ):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144.352,67 €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Penalizaciones contractuales por el retraso: 30% del costo: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43.305,80 €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Coste total (+59,22%* ): </a:t>
            </a:r>
            <a:r>
              <a:rPr lang="es-ES" sz="1600" b="1" dirty="0">
                <a:solidFill>
                  <a:schemeClr val="tx2"/>
                </a:solidFill>
                <a:latin typeface="Blinker"/>
                <a:sym typeface="Blinker"/>
              </a:rPr>
              <a:t>187.658,47€</a:t>
            </a:r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Resultado: </a:t>
            </a: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Blinker"/>
                <a:sym typeface="Blinker"/>
              </a:rPr>
              <a:t>Déficit financiero </a:t>
            </a: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en lugar del beneficio planteado inicialmente.</a:t>
            </a: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endParaRPr lang="es-ES" sz="1600" b="1" dirty="0">
              <a:solidFill>
                <a:schemeClr val="dk1"/>
              </a:solidFill>
              <a:latin typeface="Blinker"/>
              <a:sym typeface="Blinker"/>
            </a:endParaRPr>
          </a:p>
          <a:p>
            <a:pPr algn="r"/>
            <a:r>
              <a:rPr lang="es-ES" sz="1200" b="1" dirty="0">
                <a:solidFill>
                  <a:schemeClr val="dk1"/>
                </a:solidFill>
                <a:latin typeface="Blinker"/>
                <a:sym typeface="Blinker"/>
              </a:rPr>
              <a:t>*Respecto al presupuesto realizado al inicio del proyecto </a:t>
            </a: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 </a:t>
            </a:r>
          </a:p>
        </p:txBody>
      </p:sp>
      <p:pic>
        <p:nvPicPr>
          <p:cNvPr id="4" name="Picture 2" descr="Qué es la triple restricción en la gestión de proyectos?">
            <a:extLst>
              <a:ext uri="{FF2B5EF4-FFF2-40B4-BE49-F238E27FC236}">
                <a16:creationId xmlns:a16="http://schemas.microsoft.com/office/drawing/2014/main" id="{3B275512-17EF-ECD3-AE4C-904AFDC15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3" t="64692" r="69759" b="11691"/>
          <a:stretch/>
        </p:blipFill>
        <p:spPr bwMode="auto">
          <a:xfrm>
            <a:off x="7178041" y="1112520"/>
            <a:ext cx="108966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16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DF81B1EF-0658-4DA9-C011-04491B8A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>
            <a:extLst>
              <a:ext uri="{FF2B5EF4-FFF2-40B4-BE49-F238E27FC236}">
                <a16:creationId xmlns:a16="http://schemas.microsoft.com/office/drawing/2014/main" id="{B360A130-E755-1A1E-5075-93FB1A1AA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Indicadores claves de rendimiento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E65290-FF9C-7867-8404-2C042956EC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03"/>
          <a:stretch/>
        </p:blipFill>
        <p:spPr bwMode="auto">
          <a:xfrm>
            <a:off x="707901" y="2571750"/>
            <a:ext cx="2432931" cy="199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E3455BF-B239-BD70-5A81-3279D39BB4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6"/>
          <a:stretch/>
        </p:blipFill>
        <p:spPr bwMode="auto">
          <a:xfrm>
            <a:off x="3366916" y="2571750"/>
            <a:ext cx="2432932" cy="199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sertando imagen...">
            <a:extLst>
              <a:ext uri="{FF2B5EF4-FFF2-40B4-BE49-F238E27FC236}">
                <a16:creationId xmlns:a16="http://schemas.microsoft.com/office/drawing/2014/main" id="{6BFC336D-906C-8576-DD56-EFFF3A5CF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72"/>
          <a:stretch/>
        </p:blipFill>
        <p:spPr bwMode="auto">
          <a:xfrm>
            <a:off x="6025932" y="2571750"/>
            <a:ext cx="2432931" cy="204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D66D051-EFDE-801C-C856-583805B93930}"/>
              </a:ext>
            </a:extLst>
          </p:cNvPr>
          <p:cNvSpPr txBox="1"/>
          <p:nvPr/>
        </p:nvSpPr>
        <p:spPr>
          <a:xfrm>
            <a:off x="3504969" y="4504941"/>
            <a:ext cx="2363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Variación en el tiempo</a:t>
            </a:r>
            <a:endParaRPr lang="es-ES" sz="2000" b="1" dirty="0">
              <a:solidFill>
                <a:schemeClr val="dk1"/>
              </a:solidFill>
              <a:latin typeface="Blinker"/>
              <a:sym typeface="Blinker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5B5FB1-69E7-4CBC-5D26-B2ED2380A73A}"/>
              </a:ext>
            </a:extLst>
          </p:cNvPr>
          <p:cNvSpPr txBox="1"/>
          <p:nvPr/>
        </p:nvSpPr>
        <p:spPr>
          <a:xfrm>
            <a:off x="6072893" y="4504941"/>
            <a:ext cx="2363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 Índices en el tiempo</a:t>
            </a:r>
            <a:endParaRPr lang="es-ES" sz="2000" b="1" dirty="0">
              <a:solidFill>
                <a:schemeClr val="dk1"/>
              </a:solidFill>
              <a:latin typeface="Blinker"/>
              <a:sym typeface="Blinker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BC412D-C90B-3187-D417-FD5995D4E22A}"/>
              </a:ext>
            </a:extLst>
          </p:cNvPr>
          <p:cNvSpPr txBox="1"/>
          <p:nvPr/>
        </p:nvSpPr>
        <p:spPr>
          <a:xfrm>
            <a:off x="937045" y="4510147"/>
            <a:ext cx="2363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Valor acumulado en el tiempo</a:t>
            </a:r>
            <a:endParaRPr lang="es-ES" sz="2000" b="1" dirty="0">
              <a:solidFill>
                <a:schemeClr val="dk1"/>
              </a:solidFill>
              <a:latin typeface="Blinker"/>
              <a:sym typeface="Blinker"/>
            </a:endParaRPr>
          </a:p>
        </p:txBody>
      </p:sp>
      <p:sp>
        <p:nvSpPr>
          <p:cNvPr id="20" name="Subtítulo 12">
            <a:extLst>
              <a:ext uri="{FF2B5EF4-FFF2-40B4-BE49-F238E27FC236}">
                <a16:creationId xmlns:a16="http://schemas.microsoft.com/office/drawing/2014/main" id="{A4E1409A-DFAF-28EF-290D-DBBC50F709F2}"/>
              </a:ext>
            </a:extLst>
          </p:cNvPr>
          <p:cNvSpPr txBox="1">
            <a:spLocks/>
          </p:cNvSpPr>
          <p:nvPr/>
        </p:nvSpPr>
        <p:spPr>
          <a:xfrm>
            <a:off x="731382" y="1288656"/>
            <a:ext cx="7703999" cy="128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s-ES" sz="1600" dirty="0"/>
              <a:t>Variación de Costo (CV) &lt; 0 : </a:t>
            </a:r>
            <a:r>
              <a:rPr lang="es-ES" sz="1600" b="0" dirty="0">
                <a:solidFill>
                  <a:schemeClr val="accent2">
                    <a:lumMod val="50000"/>
                  </a:schemeClr>
                </a:solidFill>
              </a:rPr>
              <a:t>Sobrecostos</a:t>
            </a:r>
            <a:r>
              <a:rPr lang="es-ES" sz="1600" b="0" dirty="0"/>
              <a:t> por control de calidad GIS y los retrasos.</a:t>
            </a:r>
          </a:p>
          <a:p>
            <a:r>
              <a:rPr lang="es-ES" sz="1600" dirty="0"/>
              <a:t>Variación de Programación (VP) &lt; 0 : </a:t>
            </a:r>
            <a:r>
              <a:rPr lang="es-ES" sz="1600" b="0" dirty="0">
                <a:solidFill>
                  <a:schemeClr val="accent2">
                    <a:lumMod val="50000"/>
                  </a:schemeClr>
                </a:solidFill>
              </a:rPr>
              <a:t>Retrasos</a:t>
            </a:r>
            <a:r>
              <a:rPr lang="es-ES" sz="1600" b="0" dirty="0"/>
              <a:t> en el cronograma</a:t>
            </a:r>
          </a:p>
          <a:p>
            <a:r>
              <a:rPr lang="es-ES" sz="1600" dirty="0"/>
              <a:t>Índice de Rendimiento de Costos (IRC) &lt; 1 : </a:t>
            </a:r>
            <a:r>
              <a:rPr lang="es-ES" sz="1600" b="0" dirty="0">
                <a:solidFill>
                  <a:schemeClr val="accent2">
                    <a:lumMod val="50000"/>
                  </a:schemeClr>
                </a:solidFill>
              </a:rPr>
              <a:t>Ineficiencia</a:t>
            </a:r>
            <a:r>
              <a:rPr lang="es-ES" sz="1600" b="0" dirty="0"/>
              <a:t> de uso </a:t>
            </a:r>
            <a:r>
              <a:rPr lang="es-ES" sz="1600" b="0" dirty="0">
                <a:solidFill>
                  <a:schemeClr val="accent2">
                    <a:lumMod val="50000"/>
                  </a:schemeClr>
                </a:solidFill>
              </a:rPr>
              <a:t>de</a:t>
            </a:r>
            <a:r>
              <a:rPr lang="es-ES" sz="1600" b="0" dirty="0"/>
              <a:t> </a:t>
            </a:r>
            <a:r>
              <a:rPr lang="es-ES" sz="1600" b="0" dirty="0">
                <a:solidFill>
                  <a:schemeClr val="accent2">
                    <a:lumMod val="50000"/>
                  </a:schemeClr>
                </a:solidFill>
              </a:rPr>
              <a:t>recursos</a:t>
            </a:r>
            <a:r>
              <a:rPr lang="es-ES" sz="1600" b="0" dirty="0"/>
              <a:t> financieros</a:t>
            </a:r>
          </a:p>
          <a:p>
            <a:r>
              <a:rPr lang="es-ES" sz="1600" dirty="0"/>
              <a:t>Índice de Rendimiento de la Programación (IRP) = 1 : </a:t>
            </a:r>
            <a:r>
              <a:rPr lang="es-ES" sz="1600" b="0" dirty="0">
                <a:solidFill>
                  <a:schemeClr val="accent2">
                    <a:lumMod val="50000"/>
                  </a:schemeClr>
                </a:solidFill>
              </a:rPr>
              <a:t>Alineación con el cronograma general</a:t>
            </a:r>
            <a:r>
              <a:rPr lang="es-ES" sz="1600" b="0" dirty="0"/>
              <a:t>, aunque con desviaciones en tareas críticas.</a:t>
            </a:r>
          </a:p>
        </p:txBody>
      </p:sp>
    </p:spTree>
    <p:extLst>
      <p:ext uri="{BB962C8B-B14F-4D97-AF65-F5344CB8AC3E}">
        <p14:creationId xmlns:p14="http://schemas.microsoft.com/office/powerpoint/2010/main" val="61452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A048C5F8-1EAC-81D3-63B2-D4C4DC96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>
            <a:extLst>
              <a:ext uri="{FF2B5EF4-FFF2-40B4-BE49-F238E27FC236}">
                <a16:creationId xmlns:a16="http://schemas.microsoft.com/office/drawing/2014/main" id="{3F4C2FF3-04F1-909C-D7EA-8AE1EEDCB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127" y="414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Lecciones aprendidas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D04684-1D45-46FB-13F6-23886016FA0B}"/>
              </a:ext>
            </a:extLst>
          </p:cNvPr>
          <p:cNvSpPr txBox="1"/>
          <p:nvPr/>
        </p:nvSpPr>
        <p:spPr>
          <a:xfrm>
            <a:off x="483222" y="1077062"/>
            <a:ext cx="403693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Errores</a:t>
            </a:r>
          </a:p>
          <a:p>
            <a:pPr algn="ctr"/>
            <a:endParaRPr lang="es-ES" dirty="0">
              <a:solidFill>
                <a:schemeClr val="dk1"/>
              </a:solidFill>
              <a:latin typeface="Blinker"/>
              <a:sym typeface="Blinker"/>
            </a:endParaRPr>
          </a:p>
          <a:p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Gestión y planificación: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Falta de sincronización entre fases críticas.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Gestión de riesgos tardía, prevención escasa. 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Insuficiente holgura para tareas largas.</a:t>
            </a:r>
          </a:p>
          <a:p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Definición de requisitos: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Captura inicial insuficiente.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Alcance mal definido con tareas ajenas a GPRO.</a:t>
            </a:r>
          </a:p>
          <a:p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Comunicación: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Reuniones internas y con cliente inadecuadas.</a:t>
            </a:r>
          </a:p>
          <a:p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Presupuesto: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Errores en estimación de costes.</a:t>
            </a:r>
          </a:p>
          <a:p>
            <a:r>
              <a:rPr lang="es-ES" b="1" dirty="0">
                <a:solidFill>
                  <a:schemeClr val="dk1"/>
                </a:solidFill>
                <a:latin typeface="Blinker"/>
                <a:sym typeface="Blinker"/>
              </a:rPr>
              <a:t>Gestión de problemas y riesgos:</a:t>
            </a:r>
          </a:p>
          <a:p>
            <a:pPr marL="216000"/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Escaladas reactivas y planes de contingencia con costes poco claros.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3AEBA58-F716-6E4C-8BB2-A1215C0E5559}"/>
              </a:ext>
            </a:extLst>
          </p:cNvPr>
          <p:cNvSpPr txBox="1"/>
          <p:nvPr/>
        </p:nvSpPr>
        <p:spPr>
          <a:xfrm>
            <a:off x="4623843" y="1077062"/>
            <a:ext cx="40369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Aciertos</a:t>
            </a:r>
          </a:p>
          <a:p>
            <a:pPr algn="ctr"/>
            <a:endParaRPr lang="es-ES" dirty="0">
              <a:solidFill>
                <a:schemeClr val="dk1"/>
              </a:solidFill>
              <a:latin typeface="Blinker"/>
              <a:sym typeface="Blink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b="1" dirty="0">
                <a:solidFill>
                  <a:schemeClr val="dk1"/>
                </a:solidFill>
                <a:latin typeface="Blinker"/>
              </a:rPr>
              <a:t>Gestión inicial:</a:t>
            </a:r>
          </a:p>
          <a:p>
            <a:pPr marL="216000" lvl="1" eaLnBrk="0" fontAlgn="base" hangingPunct="0"/>
            <a:r>
              <a:rPr lang="es-ES" altLang="es-ES" dirty="0" err="1">
                <a:solidFill>
                  <a:schemeClr val="dk1"/>
                </a:solidFill>
                <a:latin typeface="Blinker"/>
              </a:rPr>
              <a:t>Kick</a:t>
            </a:r>
            <a:r>
              <a:rPr lang="es-ES" altLang="es-ES" dirty="0">
                <a:solidFill>
                  <a:schemeClr val="dk1"/>
                </a:solidFill>
                <a:latin typeface="Blinker"/>
              </a:rPr>
              <a:t>-off con visión clara (objetivos y alineación).</a:t>
            </a:r>
          </a:p>
          <a:p>
            <a:pPr marL="216000" lvl="1" eaLnBrk="0" fontAlgn="base" hangingPunct="0"/>
            <a:r>
              <a:rPr lang="es-ES" altLang="es-ES" dirty="0">
                <a:solidFill>
                  <a:schemeClr val="dk1"/>
                </a:solidFill>
                <a:latin typeface="Blinker"/>
              </a:rPr>
              <a:t>Estructura del proyecto con fases e hitos claros.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b="1" dirty="0">
                <a:solidFill>
                  <a:schemeClr val="dk1"/>
                </a:solidFill>
                <a:latin typeface="Blinker"/>
              </a:rPr>
              <a:t>Recursos:</a:t>
            </a:r>
          </a:p>
          <a:p>
            <a:pPr marL="216000" lvl="0" defTabSz="914400" eaLnBrk="0" fontAlgn="base" latinLnBrk="0" hangingPunct="0">
              <a:buSzTx/>
              <a:tabLst/>
            </a:pPr>
            <a:r>
              <a:rPr lang="es-ES" altLang="es-ES" dirty="0">
                <a:solidFill>
                  <a:schemeClr val="dk1"/>
                </a:solidFill>
                <a:latin typeface="Blinker"/>
              </a:rPr>
              <a:t>Asignación adecuada y equilibrada de recursos.</a:t>
            </a:r>
          </a:p>
          <a:p>
            <a:pPr marL="216000" lvl="0" defTabSz="914400" eaLnBrk="0" fontAlgn="base" latinLnBrk="0" hangingPunct="0">
              <a:buSzTx/>
              <a:tabLst/>
            </a:pPr>
            <a:r>
              <a:rPr lang="es-ES" altLang="es-ES" dirty="0">
                <a:solidFill>
                  <a:schemeClr val="dk1"/>
                </a:solidFill>
                <a:latin typeface="Blinker"/>
              </a:rPr>
              <a:t>Redistribución de recursos en etapas finales.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b="1" dirty="0">
                <a:solidFill>
                  <a:schemeClr val="dk1"/>
                </a:solidFill>
                <a:latin typeface="Blinker"/>
              </a:rPr>
              <a:t>Presupuesto:</a:t>
            </a:r>
          </a:p>
          <a:p>
            <a:pPr marL="216000" eaLnBrk="0" fontAlgn="base" hangingPunct="0"/>
            <a:r>
              <a:rPr lang="es-ES" altLang="es-ES" dirty="0">
                <a:solidFill>
                  <a:schemeClr val="dk1"/>
                </a:solidFill>
                <a:latin typeface="Blinker"/>
              </a:rPr>
              <a:t>Margen inicial razonable que permitió maniobrar.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b="1" dirty="0">
                <a:solidFill>
                  <a:schemeClr val="dk1"/>
                </a:solidFill>
                <a:latin typeface="Blinker"/>
              </a:rPr>
              <a:t>Flexibilidad y calidad:</a:t>
            </a:r>
          </a:p>
          <a:p>
            <a:pPr marL="216000" eaLnBrk="0" fontAlgn="base" hangingPunct="0"/>
            <a:r>
              <a:rPr lang="es-ES" altLang="es-ES" dirty="0">
                <a:solidFill>
                  <a:schemeClr val="dk1"/>
                </a:solidFill>
                <a:latin typeface="Blinker"/>
              </a:rPr>
              <a:t>Adaptación a cambios sin afectar la calidad final.</a:t>
            </a:r>
          </a:p>
          <a:p>
            <a:pPr marL="216000" eaLnBrk="0" fontAlgn="base" hangingPunct="0"/>
            <a:r>
              <a:rPr lang="es-ES" altLang="es-ES" dirty="0">
                <a:solidFill>
                  <a:schemeClr val="dk1"/>
                </a:solidFill>
                <a:latin typeface="Blinker"/>
              </a:rPr>
              <a:t>Inclusión de mantenimiento para estabilidad.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b="1" dirty="0">
                <a:solidFill>
                  <a:schemeClr val="dk1"/>
                </a:solidFill>
                <a:latin typeface="Blinker"/>
              </a:rPr>
              <a:t>Gestión de problemas:</a:t>
            </a:r>
          </a:p>
          <a:p>
            <a:pPr marL="216000" lvl="0" defTabSz="914400" eaLnBrk="0" fontAlgn="base" latinLnBrk="0" hangingPunct="0">
              <a:buSzTx/>
              <a:tabLst/>
            </a:pPr>
            <a:r>
              <a:rPr lang="es-ES" altLang="es-ES" dirty="0">
                <a:solidFill>
                  <a:schemeClr val="dk1"/>
                </a:solidFill>
                <a:latin typeface="Blinker"/>
              </a:rPr>
              <a:t>Respuestas rápidas, evitando impactos mayores.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dk1"/>
              </a:solidFill>
              <a:latin typeface="Blinker"/>
              <a:sym typeface="Blinker"/>
            </a:endParaRPr>
          </a:p>
          <a:p>
            <a:endParaRPr lang="es-ES" dirty="0">
              <a:solidFill>
                <a:schemeClr val="dk1"/>
              </a:solidFill>
              <a:latin typeface="Blinker"/>
              <a:sym typeface="Blinker"/>
            </a:endParaRPr>
          </a:p>
        </p:txBody>
      </p:sp>
    </p:spTree>
    <p:extLst>
      <p:ext uri="{BB962C8B-B14F-4D97-AF65-F5344CB8AC3E}">
        <p14:creationId xmlns:p14="http://schemas.microsoft.com/office/powerpoint/2010/main" val="12178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1521059-E3A0-E076-BE0B-227C3CFB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>
            <a:extLst>
              <a:ext uri="{FF2B5EF4-FFF2-40B4-BE49-F238E27FC236}">
                <a16:creationId xmlns:a16="http://schemas.microsoft.com/office/drawing/2014/main" id="{8D65F6B4-35F4-4FFC-5F6C-B00ACAB38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127" y="414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Balance del aprendizaje y conclusiones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CD1F49-32AD-AC21-F9B3-E96CD8ED06D8}"/>
              </a:ext>
            </a:extLst>
          </p:cNvPr>
          <p:cNvSpPr txBox="1"/>
          <p:nvPr/>
        </p:nvSpPr>
        <p:spPr>
          <a:xfrm>
            <a:off x="397532" y="1114233"/>
            <a:ext cx="84451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Planificación Integral: </a:t>
            </a:r>
            <a:r>
              <a:rPr lang="es-ES" sz="1600" dirty="0">
                <a:solidFill>
                  <a:schemeClr val="dk1"/>
                </a:solidFill>
                <a:latin typeface="Blinker"/>
                <a:sym typeface="Blinker"/>
              </a:rPr>
              <a:t>P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lanificación inicial sólida, clave para minimizar riesgos y asegurar el éxito.</a:t>
            </a: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Flexibilidad y Adaptabilidad: 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Integrar cambios de forma ágil, aunque impacte en tiempo y coste.</a:t>
            </a: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Comunicación Efectiva: 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Mejorar la frecuencia y calidad de reuniones internas y con proveedores.</a:t>
            </a: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Énfasis en la Calidad: </a:t>
            </a:r>
            <a:r>
              <a:rPr lang="es-ES" sz="1600" dirty="0">
                <a:solidFill>
                  <a:schemeClr val="dk1"/>
                </a:solidFill>
                <a:latin typeface="Blinker"/>
                <a:sym typeface="Blinker"/>
              </a:rPr>
              <a:t>C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ontroles intermedios de calidad, claves para detectar y corregir problemas.</a:t>
            </a:r>
          </a:p>
          <a:p>
            <a:pPr marL="342900" indent="-342900">
              <a:buClr>
                <a:schemeClr val="tx1"/>
              </a:buClr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Gestión de Requisitos y Contratos: 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Documentación en detalle de requisitos y formalización contractual.</a:t>
            </a:r>
          </a:p>
          <a:p>
            <a:pPr marL="342900" indent="-342900">
              <a:buClr>
                <a:schemeClr val="tx1"/>
              </a:buClr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Prioridad en la Captura de Requisitos: 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Realizar workshops y aclarar responsabilidades desde el inicio.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Rigor en la Gestión de Riesgos: 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Definir riesgos específicos, asignar costes de contingencia y establecer medidas claras de mitigación.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Planificación Técnica y de Recursos: </a:t>
            </a:r>
            <a:r>
              <a:rPr lang="es-ES" dirty="0">
                <a:solidFill>
                  <a:schemeClr val="dk1"/>
                </a:solidFill>
                <a:latin typeface="Blinker"/>
                <a:sym typeface="Blinker"/>
              </a:rPr>
              <a:t>Optimizar la sincronización de equipos y perfiles.</a:t>
            </a:r>
          </a:p>
          <a:p>
            <a:pPr>
              <a:buClr>
                <a:schemeClr val="tx1"/>
              </a:buClr>
            </a:pPr>
            <a:endParaRPr lang="es-ES" sz="700" dirty="0">
              <a:solidFill>
                <a:schemeClr val="dk1"/>
              </a:solidFill>
              <a:latin typeface="Blinker"/>
              <a:sym typeface="Blinker"/>
            </a:endParaRPr>
          </a:p>
          <a:p>
            <a:pPr>
              <a:buClr>
                <a:schemeClr val="tx1"/>
              </a:buClr>
            </a:pPr>
            <a:endParaRPr lang="es-ES" sz="700" dirty="0">
              <a:solidFill>
                <a:schemeClr val="dk1"/>
              </a:solidFill>
              <a:latin typeface="Blinker"/>
              <a:sym typeface="Blinker"/>
            </a:endParaRPr>
          </a:p>
          <a:p>
            <a:pPr>
              <a:buClr>
                <a:schemeClr val="tx1"/>
              </a:buClr>
            </a:pP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CONCLUSIONES: </a:t>
            </a: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Blinker"/>
                <a:sym typeface="Blinker"/>
              </a:rPr>
              <a:t>Experiencia</a:t>
            </a:r>
            <a:r>
              <a:rPr lang="es-ES" sz="1600" b="1" dirty="0">
                <a:solidFill>
                  <a:schemeClr val="dk1"/>
                </a:solidFill>
                <a:latin typeface="Blinker"/>
                <a:sym typeface="Blinker"/>
              </a:rPr>
              <a:t> </a:t>
            </a:r>
            <a:r>
              <a:rPr lang="es-ES" sz="1600" b="1" dirty="0">
                <a:solidFill>
                  <a:schemeClr val="accent2">
                    <a:lumMod val="50000"/>
                  </a:schemeClr>
                </a:solidFill>
                <a:latin typeface="Blinker"/>
                <a:sym typeface="Blinker"/>
              </a:rPr>
              <a:t>gestionando iniciativas complejas, compromiso con el cumplimiento de los objetivos planteados, adaptación y mantenimiento de un enfoque resolutivo.</a:t>
            </a:r>
          </a:p>
        </p:txBody>
      </p:sp>
    </p:spTree>
    <p:extLst>
      <p:ext uri="{BB962C8B-B14F-4D97-AF65-F5344CB8AC3E}">
        <p14:creationId xmlns:p14="http://schemas.microsoft.com/office/powerpoint/2010/main" val="169925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>
            <a:spLocks noGrp="1"/>
          </p:cNvSpPr>
          <p:nvPr>
            <p:ph type="title"/>
          </p:nvPr>
        </p:nvSpPr>
        <p:spPr>
          <a:xfrm>
            <a:off x="2217309" y="53998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GPRO</a:t>
            </a:r>
            <a:endParaRPr/>
          </a:p>
        </p:txBody>
      </p:sp>
      <p:pic>
        <p:nvPicPr>
          <p:cNvPr id="450" name="Google Shape;4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65" y="539988"/>
            <a:ext cx="935182" cy="13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8724" y="3323850"/>
            <a:ext cx="905959" cy="128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1292" y="559825"/>
            <a:ext cx="1139482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33844" y="3470700"/>
            <a:ext cx="1124772" cy="11328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807041A-94C8-F438-0E6E-C154CA019FEA}"/>
              </a:ext>
            </a:extLst>
          </p:cNvPr>
          <p:cNvSpPr/>
          <p:nvPr/>
        </p:nvSpPr>
        <p:spPr>
          <a:xfrm>
            <a:off x="2619447" y="3470700"/>
            <a:ext cx="4351994" cy="10587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3" name="Google Shape;433;p44"/>
          <p:cNvSpPr txBox="1">
            <a:spLocks noGrp="1"/>
          </p:cNvSpPr>
          <p:nvPr>
            <p:ph type="subTitle" idx="1"/>
          </p:nvPr>
        </p:nvSpPr>
        <p:spPr>
          <a:xfrm>
            <a:off x="2347950" y="1598688"/>
            <a:ext cx="4448100" cy="18720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/>
              <a:t>Grupo M12 -14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Guillermo Sánchez Recuero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Paula López Urquía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Pedro Trenado Figueroa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Andrés Roques Sánchez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Jesús Cobos Pozo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Transformation Plan Project Proposal by Slidesgo">
  <a:themeElements>
    <a:clrScheme name="Simple Light">
      <a:dk1>
        <a:srgbClr val="1C285A"/>
      </a:dk1>
      <a:lt1>
        <a:srgbClr val="FFFFFF"/>
      </a:lt1>
      <a:dk2>
        <a:srgbClr val="6574CA"/>
      </a:dk2>
      <a:lt2>
        <a:srgbClr val="65B2F5"/>
      </a:lt2>
      <a:accent1>
        <a:srgbClr val="94EAF8"/>
      </a:accent1>
      <a:accent2>
        <a:srgbClr val="D98AE9"/>
      </a:accent2>
      <a:accent3>
        <a:srgbClr val="EDE9F8"/>
      </a:accent3>
      <a:accent4>
        <a:srgbClr val="FFFFFF"/>
      </a:accent4>
      <a:accent5>
        <a:srgbClr val="FFFFFF"/>
      </a:accent5>
      <a:accent6>
        <a:srgbClr val="FFFFFF"/>
      </a:accent6>
      <a:hlink>
        <a:srgbClr val="1C28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707</Words>
  <Application>Microsoft Office PowerPoint</Application>
  <PresentationFormat>Presentación en pantalla 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Blinker</vt:lpstr>
      <vt:lpstr>Raleway</vt:lpstr>
      <vt:lpstr>Digital Transformation Plan Project Proposal by Slidesgo</vt:lpstr>
      <vt:lpstr> CONTRATO EUROPOL: CONSOLIDACIÓN DEL CENTRO DE COORDINACIÓN</vt:lpstr>
      <vt:lpstr>Estado del proyecto y objetivos </vt:lpstr>
      <vt:lpstr>Alcance del proyecto</vt:lpstr>
      <vt:lpstr>Tiempo de ejecución</vt:lpstr>
      <vt:lpstr>Coste y beneficio</vt:lpstr>
      <vt:lpstr>Indicadores claves de rendimiento</vt:lpstr>
      <vt:lpstr>Lecciones aprendidas</vt:lpstr>
      <vt:lpstr>Balance del aprendizaje y conclusiones</vt:lpstr>
      <vt:lpstr>GPRO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CONTRATO EUROPOL: CONSOLIDACIÓN DEL CENTRO DE COORDINACIÓN</dc:title>
  <dc:creator>UPM</dc:creator>
  <cp:lastModifiedBy>Andrés Roques Sánchez</cp:lastModifiedBy>
  <cp:revision>19</cp:revision>
  <dcterms:modified xsi:type="dcterms:W3CDTF">2024-12-06T14:33:56Z</dcterms:modified>
</cp:coreProperties>
</file>